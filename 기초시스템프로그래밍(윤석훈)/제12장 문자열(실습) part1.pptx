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9"/>
  </p:notesMasterIdLst>
  <p:sldIdLst>
    <p:sldId id="489" r:id="rId2"/>
    <p:sldId id="422" r:id="rId3"/>
    <p:sldId id="497" r:id="rId4"/>
    <p:sldId id="439" r:id="rId5"/>
    <p:sldId id="442" r:id="rId6"/>
    <p:sldId id="491" r:id="rId7"/>
    <p:sldId id="492" r:id="rId8"/>
    <p:sldId id="493" r:id="rId9"/>
    <p:sldId id="461" r:id="rId10"/>
    <p:sldId id="490" r:id="rId11"/>
    <p:sldId id="467" r:id="rId12"/>
    <p:sldId id="501" r:id="rId13"/>
    <p:sldId id="502" r:id="rId14"/>
    <p:sldId id="503" r:id="rId15"/>
    <p:sldId id="498" r:id="rId16"/>
    <p:sldId id="495" r:id="rId17"/>
    <p:sldId id="301" r:id="rId18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00FF"/>
    <a:srgbClr val="CCFF33"/>
    <a:srgbClr val="99FF33"/>
    <a:srgbClr val="E1FFE1"/>
    <a:srgbClr val="9FE6FF"/>
    <a:srgbClr val="CCFF99"/>
    <a:srgbClr val="CCFFCC"/>
    <a:srgbClr val="A7FBAB"/>
    <a:srgbClr val="FFE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2" autoAdjust="0"/>
    <p:restoredTop sz="93613" autoAdjust="0"/>
  </p:normalViewPr>
  <p:slideViewPr>
    <p:cSldViewPr>
      <p:cViewPr varScale="1">
        <p:scale>
          <a:sx n="151" d="100"/>
          <a:sy n="151" d="100"/>
        </p:scale>
        <p:origin x="2372" y="1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22999-B7F9-4882-B0CB-E786F7004961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D8F1D-2F98-498B-B3B0-F5D0EFC4BF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9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클릭하여 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97D07D-27AE-43E0-936C-66ED99367A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2914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70E792F-A479-4EE8-BED3-C37A9DF29A65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 marL="320040" indent="-320040">
              <a:buSzPct val="80000"/>
              <a:buFont typeface="Wingdings" panose="05000000000000000000" pitchFamily="2" charset="2"/>
              <a:buChar char="l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>
              <a:buFont typeface="Wingdings" panose="05000000000000000000" pitchFamily="2" charset="2"/>
              <a:buChar char="l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>
              <a:buFont typeface="Wingdings" panose="05000000000000000000" pitchFamily="2" charset="2"/>
              <a:buChar char="l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55603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E4DDD-2C01-461A-8AC0-08EA3BA51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B58A59-F530-4F5E-985C-E2B00BCF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ECF43C-C21A-469E-B3F4-8FBB12BB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9D35B6-0DC0-431C-9DA8-8617EDC6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7106-92EF-4CAE-9DA6-A060A806837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9B349FF7-DA61-4429-A6D9-A63CC73BF9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 marL="457200" indent="-457200">
              <a:buClr>
                <a:schemeClr val="accent2"/>
              </a:buClr>
              <a:buSzPct val="12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822960" indent="-457200">
              <a:buClr>
                <a:schemeClr val="accent2"/>
              </a:buClr>
              <a:buSzPct val="12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457200">
              <a:buClr>
                <a:schemeClr val="accent2"/>
              </a:buClr>
              <a:buSzPct val="12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485900" indent="-342900">
              <a:buClr>
                <a:schemeClr val="accent2"/>
              </a:buClr>
              <a:buSzPct val="120000"/>
              <a:buFont typeface="+mj-lt"/>
              <a:buAutoNum type="arabicPeriod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943100" indent="-342900">
              <a:buClr>
                <a:schemeClr val="accent2"/>
              </a:buClr>
              <a:buSzPct val="120000"/>
              <a:buFont typeface="+mj-lt"/>
              <a:buAutoNum type="arabicPeriod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236015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12FF8271-2F25-4322-A85B-00C3DF0746EC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306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EDD00C9-05AF-4300-A93D-70E3FD40C9E5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3889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2AD8747-5B23-404F-9883-008AEAFD7247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35558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E807A6D-130F-4847-92E1-F6AE0AC2304C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9836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E249C7-2ED0-4588-A394-4D0E45B9940D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229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6653B8-3313-4901-9BBC-9ACFE9FA9602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66976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5FEEC15-2795-4D4F-8B8B-60AE2FC1409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87887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35656-0B4B-4D6A-A6EE-AA6128C3D1F0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4378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6C5EE14-879D-4E59-9628-3AC44B60FD53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374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60475" y="381000"/>
            <a:ext cx="7654925" cy="571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333500"/>
            <a:ext cx="8212138" cy="4152900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747106-92EF-4CAE-9DA6-A060A806837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7511476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3747106-92EF-4CAE-9DA6-A060A806837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418818" name="Picture 2" descr="Image result for java icon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4" y="339962"/>
            <a:ext cx="426171" cy="7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7766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45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hf hdr="0" ftr="0" dt="0"/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B8A08-3916-4E1A-926B-9DB33C65D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 </a:t>
            </a:r>
            <a:r>
              <a:rPr lang="en-US" altLang="ko-KR" dirty="0"/>
              <a:t>12</a:t>
            </a:r>
            <a:r>
              <a:rPr lang="ko-KR" altLang="en-US" dirty="0"/>
              <a:t>장 문자와 문자열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227B60-13C7-40ED-AD49-983CA3E02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C07BA8-F121-45C7-B942-1436281A84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63" r="54355" b="24510"/>
          <a:stretch/>
        </p:blipFill>
        <p:spPr>
          <a:xfrm>
            <a:off x="2454612" y="1682024"/>
            <a:ext cx="3509682" cy="314842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4A04F333-F7F3-4D37-A588-44F5853268D2}"/>
              </a:ext>
            </a:extLst>
          </p:cNvPr>
          <p:cNvSpPr txBox="1">
            <a:spLocks/>
          </p:cNvSpPr>
          <p:nvPr/>
        </p:nvSpPr>
        <p:spPr>
          <a:xfrm>
            <a:off x="1853453" y="813586"/>
            <a:ext cx="4932829" cy="685801"/>
          </a:xfrm>
          <a:prstGeom prst="rect">
            <a:avLst/>
          </a:prstGeom>
          <a:ln>
            <a:noFill/>
          </a:ln>
        </p:spPr>
        <p:txBody>
          <a:bodyPr vert="horz" anchor="b">
            <a:normAutofit fontScale="92500"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dirty="0">
                <a:solidFill>
                  <a:srgbClr val="FFFF00"/>
                </a:solidFill>
              </a:rPr>
              <a:t>C</a:t>
            </a:r>
            <a:r>
              <a:rPr lang="ko-KR" altLang="en-US" dirty="0">
                <a:solidFill>
                  <a:srgbClr val="FFFF00"/>
                </a:solidFill>
              </a:rPr>
              <a:t> 언어 </a:t>
            </a:r>
            <a:r>
              <a:rPr lang="en-US" altLang="ko-KR" dirty="0" smtClean="0">
                <a:solidFill>
                  <a:srgbClr val="FFFF00"/>
                </a:solidFill>
              </a:rPr>
              <a:t>Express</a:t>
            </a:r>
            <a:endParaRPr lang="ko-KR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10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 1.1: </a:t>
            </a:r>
            <a:r>
              <a:rPr lang="ko-KR" altLang="en-US" dirty="0" smtClean="0"/>
              <a:t>문자열 복사</a:t>
            </a:r>
            <a:endParaRPr lang="ko-KR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16013" y="1125538"/>
            <a:ext cx="7777162" cy="388763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itchFamily="34" charset="0"/>
              </a:rPr>
              <a:t>stdio.h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&gt;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main(</a:t>
            </a: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)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{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char</a:t>
            </a: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src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[] =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"The worst things to eat before you sleep";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latin typeface="Trebuchet MS" pitchFamily="34" charset="0"/>
              </a:rPr>
              <a:t>	</a:t>
            </a:r>
            <a:r>
              <a:rPr lang="en-US" altLang="ko-KR" sz="1600" dirty="0">
                <a:solidFill>
                  <a:srgbClr val="0000FF"/>
                </a:solidFill>
                <a:latin typeface="Trebuchet MS" pitchFamily="34" charset="0"/>
              </a:rPr>
              <a:t>char</a:t>
            </a:r>
            <a:r>
              <a:rPr lang="ko-KR" altLang="en-US" sz="1600" dirty="0">
                <a:latin typeface="Trebuchet MS" pitchFamily="34" charset="0"/>
              </a:rPr>
              <a:t> </a:t>
            </a:r>
            <a:r>
              <a:rPr lang="en-US" altLang="ko-KR" sz="1600" dirty="0" err="1">
                <a:latin typeface="Trebuchet MS" pitchFamily="34" charset="0"/>
              </a:rPr>
              <a:t>dst</a:t>
            </a:r>
            <a:r>
              <a:rPr lang="en-US" altLang="ko-KR" sz="1600" dirty="0">
                <a:latin typeface="Trebuchet MS" pitchFamily="34" charset="0"/>
              </a:rPr>
              <a:t>[100];</a:t>
            </a: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endParaRPr lang="en-US" altLang="ko-KR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"</a:t>
            </a:r>
            <a:r>
              <a:rPr lang="ko-KR" altLang="en-US" sz="1600" kern="0" dirty="0">
                <a:solidFill>
                  <a:srgbClr val="A31515"/>
                </a:solidFill>
                <a:latin typeface="Trebuchet MS" pitchFamily="34" charset="0"/>
                <a:ea typeface="굴림"/>
              </a:rPr>
              <a:t>원본 문자열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=%s\n"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,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src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);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(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=0 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src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] != ‘\0’ 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++)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latin typeface="Trebuchet MS" pitchFamily="34" charset="0"/>
              </a:rPr>
              <a:t>		</a:t>
            </a:r>
            <a:r>
              <a:rPr lang="en-US" altLang="ko-KR" sz="1600" dirty="0" err="1">
                <a:latin typeface="Trebuchet MS" pitchFamily="34" charset="0"/>
              </a:rPr>
              <a:t>dst</a:t>
            </a:r>
            <a:r>
              <a:rPr lang="en-US" altLang="ko-KR" sz="1600" dirty="0">
                <a:latin typeface="Trebuchet MS" pitchFamily="34" charset="0"/>
              </a:rPr>
              <a:t>[</a:t>
            </a:r>
            <a:r>
              <a:rPr lang="en-US" altLang="ko-KR" sz="1600" dirty="0" err="1">
                <a:latin typeface="Trebuchet MS" pitchFamily="34" charset="0"/>
              </a:rPr>
              <a:t>i</a:t>
            </a:r>
            <a:r>
              <a:rPr lang="en-US" altLang="ko-KR" sz="1600" dirty="0">
                <a:latin typeface="Trebuchet MS" pitchFamily="34" charset="0"/>
              </a:rPr>
              <a:t>] = </a:t>
            </a:r>
            <a:r>
              <a:rPr lang="en-US" altLang="ko-KR" sz="1600" dirty="0" err="1">
                <a:latin typeface="Trebuchet MS" pitchFamily="34" charset="0"/>
              </a:rPr>
              <a:t>src</a:t>
            </a:r>
            <a:r>
              <a:rPr lang="en-US" altLang="ko-KR" sz="1600" dirty="0">
                <a:latin typeface="Trebuchet MS" pitchFamily="34" charset="0"/>
              </a:rPr>
              <a:t>[</a:t>
            </a:r>
            <a:r>
              <a:rPr lang="en-US" altLang="ko-KR" sz="1600" dirty="0" err="1">
                <a:latin typeface="Trebuchet MS" pitchFamily="34" charset="0"/>
              </a:rPr>
              <a:t>i</a:t>
            </a:r>
            <a:r>
              <a:rPr lang="en-US" altLang="ko-KR" sz="1600" dirty="0">
                <a:latin typeface="Trebuchet MS" pitchFamily="34" charset="0"/>
              </a:rPr>
              <a:t>];</a:t>
            </a: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endParaRPr lang="en-US" altLang="ko-KR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dst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] = ‘\0’;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"</a:t>
            </a:r>
            <a:r>
              <a:rPr lang="ko-KR" altLang="en-US" sz="1600" kern="0" dirty="0">
                <a:solidFill>
                  <a:srgbClr val="A31515"/>
                </a:solidFill>
                <a:latin typeface="Trebuchet MS" pitchFamily="34" charset="0"/>
                <a:ea typeface="굴림"/>
              </a:rPr>
              <a:t>복사된 문자열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=%s\n"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,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dst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);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return</a:t>
            </a: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0;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}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_x254592568"/>
          <p:cNvSpPr>
            <a:spLocks noChangeArrowheads="1"/>
          </p:cNvSpPr>
          <p:nvPr/>
        </p:nvSpPr>
        <p:spPr bwMode="auto">
          <a:xfrm>
            <a:off x="5287425" y="3069357"/>
            <a:ext cx="2816870" cy="56499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5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굴림" pitchFamily="50" charset="-127"/>
              </a:rPr>
              <a:t>NULL</a:t>
            </a:r>
            <a:r>
              <a:rPr kumimoji="1" lang="ko-KR" altLang="en-US" sz="105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굴림" pitchFamily="50" charset="-127"/>
              </a:rPr>
              <a:t>과 </a:t>
            </a:r>
            <a:r>
              <a:rPr kumimoji="1" lang="en-US" altLang="ko-KR" sz="105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굴림" pitchFamily="50" charset="-127"/>
              </a:rPr>
              <a:t>‘\0’</a:t>
            </a:r>
            <a:r>
              <a:rPr kumimoji="1" lang="ko-KR" altLang="en-US" sz="105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굴림" pitchFamily="50" charset="-127"/>
              </a:rPr>
              <a:t>은 같다</a:t>
            </a:r>
            <a:r>
              <a:rPr kumimoji="1" lang="en-US" altLang="ko-KR" sz="105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굴림" pitchFamily="50" charset="-127"/>
              </a:rPr>
              <a:t>.</a:t>
            </a:r>
            <a:endParaRPr kumimoji="1" lang="en-US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굴림" pitchFamily="50" charset="-127"/>
            </a:endParaRPr>
          </a:p>
        </p:txBody>
      </p:sp>
      <p:sp>
        <p:nvSpPr>
          <p:cNvPr id="12" name="자유형 11"/>
          <p:cNvSpPr/>
          <p:nvPr/>
        </p:nvSpPr>
        <p:spPr>
          <a:xfrm>
            <a:off x="4060698" y="3272691"/>
            <a:ext cx="1257300" cy="312616"/>
          </a:xfrm>
          <a:custGeom>
            <a:avLst/>
            <a:gdLst>
              <a:gd name="connsiteX0" fmla="*/ 1257300 w 1257300"/>
              <a:gd name="connsiteY0" fmla="*/ 137160 h 312616"/>
              <a:gd name="connsiteX1" fmla="*/ 1203960 w 1257300"/>
              <a:gd name="connsiteY1" fmla="*/ 129540 h 312616"/>
              <a:gd name="connsiteX2" fmla="*/ 1127760 w 1257300"/>
              <a:gd name="connsiteY2" fmla="*/ 106680 h 312616"/>
              <a:gd name="connsiteX3" fmla="*/ 1074420 w 1257300"/>
              <a:gd name="connsiteY3" fmla="*/ 99060 h 312616"/>
              <a:gd name="connsiteX4" fmla="*/ 1028700 w 1257300"/>
              <a:gd name="connsiteY4" fmla="*/ 83820 h 312616"/>
              <a:gd name="connsiteX5" fmla="*/ 967740 w 1257300"/>
              <a:gd name="connsiteY5" fmla="*/ 76200 h 312616"/>
              <a:gd name="connsiteX6" fmla="*/ 899160 w 1257300"/>
              <a:gd name="connsiteY6" fmla="*/ 60960 h 312616"/>
              <a:gd name="connsiteX7" fmla="*/ 845820 w 1257300"/>
              <a:gd name="connsiteY7" fmla="*/ 53340 h 312616"/>
              <a:gd name="connsiteX8" fmla="*/ 792480 w 1257300"/>
              <a:gd name="connsiteY8" fmla="*/ 38100 h 312616"/>
              <a:gd name="connsiteX9" fmla="*/ 647700 w 1257300"/>
              <a:gd name="connsiteY9" fmla="*/ 15240 h 312616"/>
              <a:gd name="connsiteX10" fmla="*/ 586740 w 1257300"/>
              <a:gd name="connsiteY10" fmla="*/ 0 h 312616"/>
              <a:gd name="connsiteX11" fmla="*/ 556260 w 1257300"/>
              <a:gd name="connsiteY11" fmla="*/ 30480 h 312616"/>
              <a:gd name="connsiteX12" fmla="*/ 571500 w 1257300"/>
              <a:gd name="connsiteY12" fmla="*/ 228600 h 312616"/>
              <a:gd name="connsiteX13" fmla="*/ 579120 w 1257300"/>
              <a:gd name="connsiteY13" fmla="*/ 251460 h 312616"/>
              <a:gd name="connsiteX14" fmla="*/ 563880 w 1257300"/>
              <a:gd name="connsiteY14" fmla="*/ 304800 h 312616"/>
              <a:gd name="connsiteX15" fmla="*/ 525780 w 1257300"/>
              <a:gd name="connsiteY15" fmla="*/ 312420 h 312616"/>
              <a:gd name="connsiteX16" fmla="*/ 381000 w 1257300"/>
              <a:gd name="connsiteY16" fmla="*/ 304800 h 312616"/>
              <a:gd name="connsiteX17" fmla="*/ 342900 w 1257300"/>
              <a:gd name="connsiteY17" fmla="*/ 297180 h 312616"/>
              <a:gd name="connsiteX18" fmla="*/ 297180 w 1257300"/>
              <a:gd name="connsiteY18" fmla="*/ 289560 h 312616"/>
              <a:gd name="connsiteX19" fmla="*/ 243840 w 1257300"/>
              <a:gd name="connsiteY19" fmla="*/ 266700 h 312616"/>
              <a:gd name="connsiteX20" fmla="*/ 220980 w 1257300"/>
              <a:gd name="connsiteY20" fmla="*/ 251460 h 312616"/>
              <a:gd name="connsiteX21" fmla="*/ 175260 w 1257300"/>
              <a:gd name="connsiteY21" fmla="*/ 205740 h 312616"/>
              <a:gd name="connsiteX22" fmla="*/ 152400 w 1257300"/>
              <a:gd name="connsiteY22" fmla="*/ 198120 h 312616"/>
              <a:gd name="connsiteX23" fmla="*/ 121920 w 1257300"/>
              <a:gd name="connsiteY23" fmla="*/ 182880 h 312616"/>
              <a:gd name="connsiteX24" fmla="*/ 0 w 1257300"/>
              <a:gd name="connsiteY24" fmla="*/ 175260 h 312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57300" h="312616">
                <a:moveTo>
                  <a:pt x="1257300" y="137160"/>
                </a:moveTo>
                <a:cubicBezTo>
                  <a:pt x="1239520" y="134620"/>
                  <a:pt x="1221631" y="132753"/>
                  <a:pt x="1203960" y="129540"/>
                </a:cubicBezTo>
                <a:cubicBezTo>
                  <a:pt x="1146036" y="119008"/>
                  <a:pt x="1201607" y="123722"/>
                  <a:pt x="1127760" y="106680"/>
                </a:cubicBezTo>
                <a:cubicBezTo>
                  <a:pt x="1110259" y="102641"/>
                  <a:pt x="1092200" y="101600"/>
                  <a:pt x="1074420" y="99060"/>
                </a:cubicBezTo>
                <a:cubicBezTo>
                  <a:pt x="1059180" y="93980"/>
                  <a:pt x="1044408" y="87186"/>
                  <a:pt x="1028700" y="83820"/>
                </a:cubicBezTo>
                <a:cubicBezTo>
                  <a:pt x="1008676" y="79529"/>
                  <a:pt x="987907" y="79759"/>
                  <a:pt x="967740" y="76200"/>
                </a:cubicBezTo>
                <a:cubicBezTo>
                  <a:pt x="944679" y="72130"/>
                  <a:pt x="922177" y="65276"/>
                  <a:pt x="899160" y="60960"/>
                </a:cubicBezTo>
                <a:cubicBezTo>
                  <a:pt x="881507" y="57650"/>
                  <a:pt x="863382" y="57103"/>
                  <a:pt x="845820" y="53340"/>
                </a:cubicBezTo>
                <a:cubicBezTo>
                  <a:pt x="827739" y="49465"/>
                  <a:pt x="810561" y="41975"/>
                  <a:pt x="792480" y="38100"/>
                </a:cubicBezTo>
                <a:cubicBezTo>
                  <a:pt x="747016" y="28358"/>
                  <a:pt x="690677" y="29566"/>
                  <a:pt x="647700" y="15240"/>
                </a:cubicBezTo>
                <a:cubicBezTo>
                  <a:pt x="612553" y="3524"/>
                  <a:pt x="632716" y="9195"/>
                  <a:pt x="586740" y="0"/>
                </a:cubicBezTo>
                <a:cubicBezTo>
                  <a:pt x="566420" y="6773"/>
                  <a:pt x="556260" y="3387"/>
                  <a:pt x="556260" y="30480"/>
                </a:cubicBezTo>
                <a:cubicBezTo>
                  <a:pt x="556260" y="123665"/>
                  <a:pt x="551829" y="159751"/>
                  <a:pt x="571500" y="228600"/>
                </a:cubicBezTo>
                <a:cubicBezTo>
                  <a:pt x="573707" y="236323"/>
                  <a:pt x="576580" y="243840"/>
                  <a:pt x="579120" y="251460"/>
                </a:cubicBezTo>
                <a:cubicBezTo>
                  <a:pt x="574040" y="269240"/>
                  <a:pt x="576057" y="290884"/>
                  <a:pt x="563880" y="304800"/>
                </a:cubicBezTo>
                <a:cubicBezTo>
                  <a:pt x="555351" y="314547"/>
                  <a:pt x="538732" y="312420"/>
                  <a:pt x="525780" y="312420"/>
                </a:cubicBezTo>
                <a:cubicBezTo>
                  <a:pt x="477453" y="312420"/>
                  <a:pt x="429260" y="307340"/>
                  <a:pt x="381000" y="304800"/>
                </a:cubicBezTo>
                <a:lnTo>
                  <a:pt x="342900" y="297180"/>
                </a:lnTo>
                <a:cubicBezTo>
                  <a:pt x="327699" y="294416"/>
                  <a:pt x="312262" y="292912"/>
                  <a:pt x="297180" y="289560"/>
                </a:cubicBezTo>
                <a:cubicBezTo>
                  <a:pt x="279694" y="285674"/>
                  <a:pt x="258665" y="275171"/>
                  <a:pt x="243840" y="266700"/>
                </a:cubicBezTo>
                <a:cubicBezTo>
                  <a:pt x="235889" y="262156"/>
                  <a:pt x="227825" y="257544"/>
                  <a:pt x="220980" y="251460"/>
                </a:cubicBezTo>
                <a:cubicBezTo>
                  <a:pt x="204871" y="237141"/>
                  <a:pt x="195707" y="212556"/>
                  <a:pt x="175260" y="205740"/>
                </a:cubicBezTo>
                <a:cubicBezTo>
                  <a:pt x="167640" y="203200"/>
                  <a:pt x="159783" y="201284"/>
                  <a:pt x="152400" y="198120"/>
                </a:cubicBezTo>
                <a:cubicBezTo>
                  <a:pt x="141959" y="193645"/>
                  <a:pt x="132556" y="186868"/>
                  <a:pt x="121920" y="182880"/>
                </a:cubicBezTo>
                <a:cubicBezTo>
                  <a:pt x="81887" y="167868"/>
                  <a:pt x="43656" y="175260"/>
                  <a:pt x="0" y="17526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8FB5B2C1-0FFB-4E46-942D-25D0104A7F83}"/>
              </a:ext>
            </a:extLst>
          </p:cNvPr>
          <p:cNvGrpSpPr/>
          <p:nvPr/>
        </p:nvGrpSpPr>
        <p:grpSpPr>
          <a:xfrm>
            <a:off x="1116012" y="5198887"/>
            <a:ext cx="7777161" cy="1212754"/>
            <a:chOff x="5038165" y="815788"/>
            <a:chExt cx="3663880" cy="1316231"/>
          </a:xfrm>
        </p:grpSpPr>
        <p:pic>
          <p:nvPicPr>
            <p:cNvPr id="175" name="그림 174">
              <a:extLst>
                <a:ext uri="{FF2B5EF4-FFF2-40B4-BE49-F238E27FC236}">
                  <a16:creationId xmlns:a16="http://schemas.microsoft.com/office/drawing/2014/main" id="{68E596C3-6AF0-4983-BE85-9C3479A6D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6679" y="1781959"/>
              <a:ext cx="745785" cy="350060"/>
            </a:xfrm>
            <a:prstGeom prst="rect">
              <a:avLst/>
            </a:prstGeom>
          </p:spPr>
        </p:pic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7557C7D8-51A0-4574-BD51-625DCC757934}"/>
                </a:ext>
              </a:extLst>
            </p:cNvPr>
            <p:cNvSpPr/>
            <p:nvPr/>
          </p:nvSpPr>
          <p:spPr>
            <a:xfrm>
              <a:off x="5038165" y="815788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원본 문자열</a:t>
              </a:r>
              <a:r>
                <a:rPr lang="en-US" altLang="ko-KR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=The worst things to eat before you sleep</a:t>
              </a:r>
            </a:p>
            <a:p>
              <a:r>
                <a:rPr lang="ko-KR" altLang="en-US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복사된 문자열</a:t>
              </a:r>
              <a:r>
                <a:rPr lang="en-US" altLang="ko-KR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=The worst things to eat before you sleep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561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1.2:  </a:t>
            </a:r>
            <a:r>
              <a:rPr lang="ko-KR" altLang="en-US" dirty="0" smtClean="0"/>
              <a:t>문자열 </a:t>
            </a:r>
            <a:r>
              <a:rPr lang="ko-KR" altLang="en-US" dirty="0"/>
              <a:t>길이 </a:t>
            </a:r>
            <a:r>
              <a:rPr lang="ko-KR" altLang="en-US" dirty="0" smtClean="0"/>
              <a:t>계산</a:t>
            </a:r>
            <a:endParaRPr lang="ko-KR" altLang="en-US" dirty="0"/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755576" y="1700808"/>
            <a:ext cx="7777162" cy="353943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solidFill>
                  <a:srgbClr val="008000"/>
                </a:solidFill>
                <a:latin typeface="Trebuchet MS" pitchFamily="34" charset="0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Trebuchet MS" pitchFamily="34" charset="0"/>
              </a:rPr>
              <a:t>문자열의 길이를 구하는 프로그램</a:t>
            </a:r>
            <a:endParaRPr lang="ko-KR" altLang="en-US" sz="1600" dirty="0">
              <a:latin typeface="Trebuchet MS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ko-KR" sz="1600" dirty="0">
                <a:latin typeface="Trebuchet MS" pitchFamily="34" charset="0"/>
              </a:rPr>
              <a:t> </a:t>
            </a:r>
            <a:r>
              <a:rPr lang="en-US" altLang="ko-KR" sz="1600" dirty="0">
                <a:solidFill>
                  <a:srgbClr val="800000"/>
                </a:solidFill>
                <a:latin typeface="Trebuchet MS" pitchFamily="34" charset="0"/>
              </a:rPr>
              <a:t>&lt;</a:t>
            </a:r>
            <a:r>
              <a:rPr lang="en-US" altLang="ko-KR" sz="1600" dirty="0" err="1">
                <a:solidFill>
                  <a:srgbClr val="800000"/>
                </a:solidFill>
                <a:latin typeface="Trebuchet MS" pitchFamily="34" charset="0"/>
              </a:rPr>
              <a:t>stdio.h</a:t>
            </a:r>
            <a:r>
              <a:rPr lang="en-US" altLang="ko-KR" sz="1600" dirty="0">
                <a:solidFill>
                  <a:srgbClr val="800000"/>
                </a:solidFill>
                <a:latin typeface="Trebuchet MS" pitchFamily="34" charset="0"/>
              </a:rPr>
              <a:t>&gt;</a:t>
            </a:r>
            <a:endParaRPr lang="en-US" altLang="ko-KR" sz="1600" dirty="0">
              <a:latin typeface="Trebuchet MS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ko-KR" sz="1600" dirty="0">
              <a:latin typeface="Trebuchet MS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ko-KR" sz="1600" dirty="0">
                <a:latin typeface="Trebuchet MS" pitchFamily="34" charset="0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Trebuchet MS" pitchFamily="34" charset="0"/>
              </a:rPr>
              <a:t>void</a:t>
            </a:r>
            <a:r>
              <a:rPr lang="en-US" altLang="ko-KR" sz="1600" dirty="0">
                <a:latin typeface="Trebuchet MS" pitchFamily="34" charset="0"/>
              </a:rPr>
              <a:t>)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latin typeface="Trebuchet MS" pitchFamily="34" charset="0"/>
              </a:rPr>
              <a:t>{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latin typeface="Trebuchet MS" pitchFamily="34" charset="0"/>
              </a:rPr>
              <a:t>	</a:t>
            </a:r>
            <a:r>
              <a:rPr lang="en-US" altLang="ko-KR" sz="1600" dirty="0">
                <a:solidFill>
                  <a:srgbClr val="0000FF"/>
                </a:solidFill>
                <a:latin typeface="Trebuchet MS" pitchFamily="34" charset="0"/>
              </a:rPr>
              <a:t>char</a:t>
            </a:r>
            <a:r>
              <a:rPr lang="en-US" altLang="ko-KR" sz="1600" dirty="0">
                <a:latin typeface="Trebuchet MS" pitchFamily="34" charset="0"/>
              </a:rPr>
              <a:t> </a:t>
            </a:r>
            <a:r>
              <a:rPr lang="en-US" altLang="ko-KR" sz="1600" dirty="0" err="1">
                <a:latin typeface="Trebuchet MS" pitchFamily="34" charset="0"/>
              </a:rPr>
              <a:t>str</a:t>
            </a:r>
            <a:r>
              <a:rPr lang="en-US" altLang="ko-KR" sz="1600" dirty="0">
                <a:latin typeface="Trebuchet MS" pitchFamily="34" charset="0"/>
              </a:rPr>
              <a:t>[30] = </a:t>
            </a:r>
            <a:r>
              <a:rPr lang="en-US" altLang="ko-KR" sz="1600" dirty="0">
                <a:solidFill>
                  <a:srgbClr val="800000"/>
                </a:solidFill>
                <a:latin typeface="Trebuchet MS" pitchFamily="34" charset="0"/>
              </a:rPr>
              <a:t>"C language is easy";</a:t>
            </a:r>
            <a:endParaRPr lang="en-US" altLang="ko-KR" sz="1600" dirty="0">
              <a:latin typeface="Trebuchet MS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latin typeface="Trebuchet MS" pitchFamily="34" charset="0"/>
              </a:rPr>
              <a:t>	</a:t>
            </a:r>
            <a:r>
              <a:rPr lang="en-US" altLang="ko-KR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ko-KR" sz="1600" dirty="0">
                <a:latin typeface="Trebuchet MS" pitchFamily="34" charset="0"/>
              </a:rPr>
              <a:t> </a:t>
            </a:r>
            <a:r>
              <a:rPr lang="en-US" altLang="ko-KR" sz="1600" dirty="0" err="1">
                <a:latin typeface="Trebuchet MS" pitchFamily="34" charset="0"/>
              </a:rPr>
              <a:t>i</a:t>
            </a:r>
            <a:r>
              <a:rPr lang="en-US" altLang="ko-KR" sz="1600" dirty="0">
                <a:latin typeface="Trebuchet MS" pitchFamily="34" charset="0"/>
              </a:rPr>
              <a:t> = 0;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latin typeface="Trebuchet MS" pitchFamily="34" charset="0"/>
              </a:rPr>
              <a:t>	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latin typeface="Trebuchet MS" pitchFamily="34" charset="0"/>
              </a:rPr>
              <a:t>	</a:t>
            </a:r>
            <a:r>
              <a:rPr lang="en-US" altLang="ko-KR" sz="1600" dirty="0">
                <a:solidFill>
                  <a:srgbClr val="0000FF"/>
                </a:solidFill>
                <a:latin typeface="Trebuchet MS" pitchFamily="34" charset="0"/>
              </a:rPr>
              <a:t>while</a:t>
            </a:r>
            <a:r>
              <a:rPr lang="en-US" altLang="ko-KR" sz="1600" dirty="0">
                <a:latin typeface="Trebuchet MS" pitchFamily="34" charset="0"/>
              </a:rPr>
              <a:t>(</a:t>
            </a:r>
            <a:r>
              <a:rPr lang="en-US" altLang="ko-KR" sz="1600" dirty="0" err="1">
                <a:latin typeface="Trebuchet MS" pitchFamily="34" charset="0"/>
              </a:rPr>
              <a:t>str</a:t>
            </a:r>
            <a:r>
              <a:rPr lang="en-US" altLang="ko-KR" sz="1600" dirty="0">
                <a:latin typeface="Trebuchet MS" pitchFamily="34" charset="0"/>
              </a:rPr>
              <a:t>[</a:t>
            </a:r>
            <a:r>
              <a:rPr lang="en-US" altLang="ko-KR" sz="1600" dirty="0" err="1">
                <a:latin typeface="Trebuchet MS" pitchFamily="34" charset="0"/>
              </a:rPr>
              <a:t>i</a:t>
            </a:r>
            <a:r>
              <a:rPr lang="en-US" altLang="ko-KR" sz="1600" dirty="0">
                <a:latin typeface="Trebuchet MS" pitchFamily="34" charset="0"/>
              </a:rPr>
              <a:t>] != 0)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latin typeface="Trebuchet MS" pitchFamily="34" charset="0"/>
              </a:rPr>
              <a:t>		</a:t>
            </a:r>
            <a:r>
              <a:rPr lang="en-US" altLang="ko-KR" sz="1600" dirty="0" err="1">
                <a:latin typeface="Trebuchet MS" pitchFamily="34" charset="0"/>
              </a:rPr>
              <a:t>i</a:t>
            </a:r>
            <a:r>
              <a:rPr lang="en-US" altLang="ko-KR" sz="1600" dirty="0">
                <a:latin typeface="Trebuchet MS" pitchFamily="34" charset="0"/>
              </a:rPr>
              <a:t>++;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ko-KR" sz="1600" dirty="0">
              <a:latin typeface="Trebuchet MS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latin typeface="Trebuchet MS" pitchFamily="34" charset="0"/>
              </a:rPr>
              <a:t>	</a:t>
            </a:r>
            <a:r>
              <a:rPr lang="en-US" altLang="ko-KR" sz="1600" dirty="0" err="1">
                <a:latin typeface="Trebuchet MS" pitchFamily="34" charset="0"/>
              </a:rPr>
              <a:t>printf</a:t>
            </a:r>
            <a:r>
              <a:rPr lang="en-US" altLang="ko-KR" sz="1600" dirty="0">
                <a:latin typeface="Trebuchet MS" pitchFamily="34" charset="0"/>
              </a:rPr>
              <a:t>(</a:t>
            </a:r>
            <a:r>
              <a:rPr lang="en-US" altLang="ko-KR" sz="1600" dirty="0">
                <a:solidFill>
                  <a:srgbClr val="800000"/>
                </a:solidFill>
                <a:latin typeface="Trebuchet MS" pitchFamily="34" charset="0"/>
              </a:rPr>
              <a:t>"</a:t>
            </a:r>
            <a:r>
              <a:rPr lang="ko-KR" altLang="en-US" sz="1600" dirty="0">
                <a:solidFill>
                  <a:srgbClr val="800000"/>
                </a:solidFill>
                <a:latin typeface="Trebuchet MS" pitchFamily="34" charset="0"/>
              </a:rPr>
              <a:t>문자열</a:t>
            </a:r>
            <a:r>
              <a:rPr lang="en-US" altLang="ko-KR" sz="1600" dirty="0">
                <a:solidFill>
                  <a:srgbClr val="800000"/>
                </a:solidFill>
                <a:latin typeface="Trebuchet MS" pitchFamily="34" charset="0"/>
              </a:rPr>
              <a:t>\"%s\"</a:t>
            </a:r>
            <a:r>
              <a:rPr lang="ko-KR" altLang="en-US" sz="1600" dirty="0">
                <a:solidFill>
                  <a:srgbClr val="800000"/>
                </a:solidFill>
                <a:latin typeface="Trebuchet MS" pitchFamily="34" charset="0"/>
              </a:rPr>
              <a:t>의 길이는 </a:t>
            </a:r>
            <a:r>
              <a:rPr lang="en-US" altLang="ko-KR" sz="1600" dirty="0">
                <a:solidFill>
                  <a:srgbClr val="800000"/>
                </a:solidFill>
                <a:latin typeface="Trebuchet MS" pitchFamily="34" charset="0"/>
              </a:rPr>
              <a:t>%d</a:t>
            </a:r>
            <a:r>
              <a:rPr lang="ko-KR" altLang="en-US" sz="1600" dirty="0">
                <a:solidFill>
                  <a:srgbClr val="800000"/>
                </a:solidFill>
                <a:latin typeface="Trebuchet MS" pitchFamily="34" charset="0"/>
              </a:rPr>
              <a:t>입니다</a:t>
            </a:r>
            <a:r>
              <a:rPr lang="en-US" altLang="ko-KR" sz="1600" dirty="0">
                <a:solidFill>
                  <a:srgbClr val="800000"/>
                </a:solidFill>
                <a:latin typeface="Trebuchet MS" pitchFamily="34" charset="0"/>
              </a:rPr>
              <a:t>.\n"</a:t>
            </a:r>
            <a:r>
              <a:rPr lang="en-US" altLang="ko-KR" sz="1600" dirty="0">
                <a:latin typeface="Trebuchet MS" pitchFamily="34" charset="0"/>
              </a:rPr>
              <a:t>, </a:t>
            </a:r>
            <a:r>
              <a:rPr lang="en-US" altLang="ko-KR" sz="1600" dirty="0" err="1">
                <a:latin typeface="Trebuchet MS" pitchFamily="34" charset="0"/>
              </a:rPr>
              <a:t>str</a:t>
            </a:r>
            <a:r>
              <a:rPr lang="en-US" altLang="ko-KR" sz="1600" dirty="0">
                <a:latin typeface="Trebuchet MS" pitchFamily="34" charset="0"/>
              </a:rPr>
              <a:t>, </a:t>
            </a:r>
            <a:r>
              <a:rPr lang="en-US" altLang="ko-KR" sz="1600" dirty="0" err="1">
                <a:latin typeface="Trebuchet MS" pitchFamily="34" charset="0"/>
              </a:rPr>
              <a:t>i</a:t>
            </a:r>
            <a:r>
              <a:rPr lang="en-US" altLang="ko-KR" sz="1600" dirty="0">
                <a:latin typeface="Trebuchet MS" pitchFamily="34" charset="0"/>
              </a:rPr>
              <a:t>);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latin typeface="Trebuchet MS" pitchFamily="34" charset="0"/>
              </a:rPr>
              <a:t>	</a:t>
            </a:r>
            <a:r>
              <a:rPr lang="en-US" altLang="ko-KR" sz="1600" dirty="0">
                <a:solidFill>
                  <a:srgbClr val="0000FF"/>
                </a:solidFill>
                <a:latin typeface="Trebuchet MS" pitchFamily="34" charset="0"/>
              </a:rPr>
              <a:t>return</a:t>
            </a:r>
            <a:r>
              <a:rPr lang="en-US" altLang="ko-KR" sz="1600" dirty="0">
                <a:latin typeface="Trebuchet MS" pitchFamily="34" charset="0"/>
              </a:rPr>
              <a:t> 0;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latin typeface="Trebuchet MS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9D37D00-8A26-4EE3-AB6E-F66D2BA55C73}"/>
              </a:ext>
            </a:extLst>
          </p:cNvPr>
          <p:cNvGrpSpPr/>
          <p:nvPr/>
        </p:nvGrpSpPr>
        <p:grpSpPr>
          <a:xfrm>
            <a:off x="769386" y="5421042"/>
            <a:ext cx="7777161" cy="990600"/>
            <a:chOff x="4874867" y="766531"/>
            <a:chExt cx="3663880" cy="136548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C2AFEBF-F7ED-4FC3-A722-A51535853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6679" y="1781959"/>
              <a:ext cx="745785" cy="35006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A75E9C4-319B-4F4D-8106-2CDC8F3AAC45}"/>
                </a:ext>
              </a:extLst>
            </p:cNvPr>
            <p:cNvSpPr/>
            <p:nvPr/>
          </p:nvSpPr>
          <p:spPr>
            <a:xfrm>
              <a:off x="4874867" y="766531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ko-KR" sz="1400" dirty="0">
                  <a:latin typeface="Trebuchet MS" panose="020B0603020202020204" pitchFamily="34" charset="0"/>
                  <a:ea typeface="굴림" panose="020B0600000101010101" pitchFamily="50" charset="-127"/>
                </a:rPr>
                <a:t>문자열 "C </a:t>
              </a:r>
              <a:r>
                <a:rPr lang="ko-KR" altLang="ko-KR" sz="1400" dirty="0" err="1">
                  <a:latin typeface="Trebuchet MS" panose="020B0603020202020204" pitchFamily="34" charset="0"/>
                  <a:ea typeface="굴림" panose="020B0600000101010101" pitchFamily="50" charset="-127"/>
                </a:rPr>
                <a:t>language</a:t>
              </a:r>
              <a:r>
                <a:rPr lang="ko-KR" altLang="ko-KR" sz="1400" dirty="0">
                  <a:latin typeface="Trebuchet MS" panose="020B0603020202020204" pitchFamily="34" charset="0"/>
                  <a:ea typeface="굴림" panose="020B0600000101010101" pitchFamily="50" charset="-127"/>
                </a:rPr>
                <a:t> </a:t>
              </a:r>
              <a:r>
                <a:rPr lang="ko-KR" altLang="ko-KR" sz="1400" dirty="0" err="1">
                  <a:latin typeface="Trebuchet MS" panose="020B0603020202020204" pitchFamily="34" charset="0"/>
                  <a:ea typeface="굴림" panose="020B0600000101010101" pitchFamily="50" charset="-127"/>
                </a:rPr>
                <a:t>is</a:t>
              </a:r>
              <a:r>
                <a:rPr lang="ko-KR" altLang="ko-KR" sz="1400" dirty="0">
                  <a:latin typeface="Trebuchet MS" panose="020B0603020202020204" pitchFamily="34" charset="0"/>
                  <a:ea typeface="굴림" panose="020B0600000101010101" pitchFamily="50" charset="-127"/>
                </a:rPr>
                <a:t> </a:t>
              </a:r>
              <a:r>
                <a:rPr lang="ko-KR" altLang="ko-KR" sz="1400" dirty="0" err="1">
                  <a:latin typeface="Trebuchet MS" panose="020B0603020202020204" pitchFamily="34" charset="0"/>
                  <a:ea typeface="굴림" panose="020B0600000101010101" pitchFamily="50" charset="-127"/>
                </a:rPr>
                <a:t>easy"의</a:t>
              </a:r>
              <a:r>
                <a:rPr lang="ko-KR" altLang="ko-KR" sz="1400" dirty="0">
                  <a:latin typeface="Trebuchet MS" panose="020B0603020202020204" pitchFamily="34" charset="0"/>
                  <a:ea typeface="굴림" panose="020B0600000101010101" pitchFamily="50" charset="-127"/>
                </a:rPr>
                <a:t> 길이는 18입니다.</a:t>
              </a:r>
              <a:endParaRPr lang="en-US" altLang="ko-KR" sz="1400" dirty="0">
                <a:latin typeface="Trebuchet MS" panose="020B0603020202020204" pitchFamily="34" charset="0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386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2: </a:t>
            </a:r>
            <a:r>
              <a:rPr lang="ko-KR" altLang="en-US" dirty="0"/>
              <a:t>문자열 </a:t>
            </a:r>
            <a:r>
              <a:rPr lang="ko-KR" altLang="en-US" dirty="0" smtClean="0"/>
              <a:t>입력</a:t>
            </a:r>
            <a:endParaRPr lang="ko-KR" altLang="en-US" dirty="0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786957" y="1150337"/>
            <a:ext cx="7777162" cy="452431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itchFamily="34" charset="0"/>
              </a:rPr>
              <a:t>stdio.h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&gt;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main(</a:t>
            </a: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)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{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	char</a:t>
            </a: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name[100];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	char</a:t>
            </a: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address[100];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"</a:t>
            </a:r>
            <a:r>
              <a:rPr lang="ko-KR" altLang="en-US" sz="1600" kern="0" dirty="0">
                <a:solidFill>
                  <a:srgbClr val="A31515"/>
                </a:solidFill>
                <a:latin typeface="Trebuchet MS" pitchFamily="34" charset="0"/>
                <a:ea typeface="굴림"/>
              </a:rPr>
              <a:t>이름을 입력하시오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: ");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//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itchFamily="34" charset="0"/>
              </a:rPr>
              <a:t>gets_s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(</a:t>
            </a:r>
            <a:r>
              <a:rPr lang="en-US" altLang="ko-KR" sz="1600" dirty="0" smtClean="0">
                <a:latin typeface="Trebuchet MS" pitchFamily="34" charset="0"/>
              </a:rPr>
              <a:t>name</a:t>
            </a:r>
            <a:r>
              <a:rPr lang="en-US" altLang="ko-KR" sz="1600" dirty="0">
                <a:latin typeface="Trebuchet MS" pitchFamily="34" charset="0"/>
              </a:rPr>
              <a:t>, 100</a:t>
            </a:r>
            <a:r>
              <a:rPr lang="en-US" altLang="ko-KR" sz="1600" dirty="0" smtClean="0">
                <a:latin typeface="Trebuchet MS" pitchFamily="34" charset="0"/>
              </a:rPr>
              <a:t>);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 smtClean="0">
                <a:latin typeface="Trebuchet MS" pitchFamily="34" charset="0"/>
              </a:rPr>
              <a:t>	</a:t>
            </a:r>
            <a:r>
              <a:rPr lang="en-US" altLang="ko-KR" sz="1600" dirty="0" err="1" smtClean="0">
                <a:latin typeface="Trebuchet MS" pitchFamily="34" charset="0"/>
              </a:rPr>
              <a:t>fgets</a:t>
            </a:r>
            <a:r>
              <a:rPr lang="en-US" altLang="ko-KR" sz="1600" dirty="0" smtClean="0">
                <a:latin typeface="Trebuchet MS" pitchFamily="34" charset="0"/>
              </a:rPr>
              <a:t>(name</a:t>
            </a:r>
            <a:r>
              <a:rPr lang="en-US" altLang="ko-KR" sz="1600" dirty="0">
                <a:latin typeface="Trebuchet MS" pitchFamily="34" charset="0"/>
              </a:rPr>
              <a:t>, </a:t>
            </a:r>
            <a:r>
              <a:rPr lang="en-US" altLang="ko-KR" sz="1600" dirty="0" err="1">
                <a:latin typeface="Trebuchet MS" pitchFamily="34" charset="0"/>
              </a:rPr>
              <a:t>sizeof</a:t>
            </a:r>
            <a:r>
              <a:rPr lang="en-US" altLang="ko-KR" sz="1600" dirty="0">
                <a:latin typeface="Trebuchet MS" pitchFamily="34" charset="0"/>
              </a:rPr>
              <a:t>(name),</a:t>
            </a:r>
            <a:r>
              <a:rPr lang="en-US" altLang="ko-KR" sz="1600" dirty="0" err="1">
                <a:latin typeface="Trebuchet MS" pitchFamily="34" charset="0"/>
              </a:rPr>
              <a:t>stdin</a:t>
            </a:r>
            <a:r>
              <a:rPr lang="en-US" altLang="ko-KR" sz="1600" dirty="0">
                <a:latin typeface="Trebuchet MS" pitchFamily="34" charset="0"/>
              </a:rPr>
              <a:t>);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"</a:t>
            </a:r>
            <a:r>
              <a:rPr lang="ko-KR" altLang="en-US" sz="1600" kern="0" dirty="0">
                <a:solidFill>
                  <a:srgbClr val="A31515"/>
                </a:solidFill>
                <a:latin typeface="Trebuchet MS" pitchFamily="34" charset="0"/>
                <a:ea typeface="굴림"/>
              </a:rPr>
              <a:t>현재 거주하는 주소를 입력하시오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: ");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//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itchFamily="34" charset="0"/>
              </a:rPr>
              <a:t>gets_s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(address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, 100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);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fgets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(address,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sizeof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(address),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stdin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);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puts(name);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puts(address);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	return</a:t>
            </a:r>
            <a:r>
              <a:rPr lang="ko-KR" altLang="en-US" sz="1600" kern="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0;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}</a:t>
            </a:r>
            <a:endParaRPr lang="ko-KR" altLang="en-US" sz="1600" kern="0" dirty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9EC61177-7A7C-4AC6-B700-83D5275C1765}"/>
              </a:ext>
            </a:extLst>
          </p:cNvPr>
          <p:cNvGrpSpPr/>
          <p:nvPr/>
        </p:nvGrpSpPr>
        <p:grpSpPr>
          <a:xfrm>
            <a:off x="1076898" y="5445224"/>
            <a:ext cx="7777161" cy="1573287"/>
            <a:chOff x="4874867" y="766531"/>
            <a:chExt cx="3663880" cy="1365488"/>
          </a:xfrm>
        </p:grpSpPr>
        <p:pic>
          <p:nvPicPr>
            <p:cNvPr id="171" name="그림 170">
              <a:extLst>
                <a:ext uri="{FF2B5EF4-FFF2-40B4-BE49-F238E27FC236}">
                  <a16:creationId xmlns:a16="http://schemas.microsoft.com/office/drawing/2014/main" id="{247708F4-D535-4BC2-8040-0C9D48135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6679" y="1781959"/>
              <a:ext cx="745785" cy="350060"/>
            </a:xfrm>
            <a:prstGeom prst="rect">
              <a:avLst/>
            </a:prstGeom>
          </p:spPr>
        </p:pic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C89D46E0-56BB-46DB-8F67-EFC16FBF0C66}"/>
                </a:ext>
              </a:extLst>
            </p:cNvPr>
            <p:cNvSpPr/>
            <p:nvPr/>
          </p:nvSpPr>
          <p:spPr>
            <a:xfrm>
              <a:off x="4874867" y="766531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이름을 </a:t>
              </a:r>
              <a:r>
                <a:rPr lang="ko-KR" altLang="en-US" sz="1400" b="1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입력하시오</a:t>
              </a:r>
              <a:r>
                <a:rPr lang="en-US" altLang="ko-KR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: </a:t>
              </a:r>
              <a:r>
                <a:rPr lang="ko-KR" altLang="en-US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홍길동</a:t>
              </a:r>
            </a:p>
            <a:p>
              <a:r>
                <a:rPr lang="ko-KR" altLang="en-US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현재 거주하는 주소를 </a:t>
              </a:r>
              <a:r>
                <a:rPr lang="ko-KR" altLang="en-US" sz="1400" b="1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입력하시오</a:t>
              </a:r>
              <a:r>
                <a:rPr lang="en-US" altLang="ko-KR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: </a:t>
              </a:r>
              <a:r>
                <a:rPr lang="ko-KR" altLang="en-US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서울시 종로구 </a:t>
              </a:r>
              <a:r>
                <a:rPr lang="en-US" altLang="ko-KR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100</a:t>
              </a:r>
              <a:r>
                <a:rPr lang="ko-KR" altLang="en-US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번지</a:t>
              </a:r>
            </a:p>
            <a:p>
              <a:endParaRPr lang="en-US" altLang="ko-KR" sz="1400" b="1" dirty="0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endParaRPr>
            </a:p>
            <a:p>
              <a:r>
                <a:rPr lang="ko-KR" altLang="en-US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홍길동</a:t>
              </a:r>
            </a:p>
            <a:p>
              <a:r>
                <a:rPr lang="ko-KR" altLang="en-US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서울시 종로구 </a:t>
              </a:r>
              <a:r>
                <a:rPr lang="en-US" altLang="ko-KR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100</a:t>
              </a:r>
              <a:r>
                <a:rPr lang="ko-KR" altLang="en-US" sz="1400" b="1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번지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005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E0079AB-44FF-4ADD-B96C-035D15B2FF8D}"/>
              </a:ext>
            </a:extLst>
          </p:cNvPr>
          <p:cNvGrpSpPr/>
          <p:nvPr/>
        </p:nvGrpSpPr>
        <p:grpSpPr>
          <a:xfrm>
            <a:off x="748667" y="5313451"/>
            <a:ext cx="7777161" cy="1164420"/>
            <a:chOff x="4874867" y="766531"/>
            <a:chExt cx="3663880" cy="1416344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E5FB552-225A-48DD-B6E6-9EBB051AF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43604" y="1832815"/>
              <a:ext cx="745785" cy="35006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03F7F2C-6270-4C01-844D-24929A486023}"/>
                </a:ext>
              </a:extLst>
            </p:cNvPr>
            <p:cNvSpPr/>
            <p:nvPr/>
          </p:nvSpPr>
          <p:spPr>
            <a:xfrm>
              <a:off x="4874867" y="766531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ko-KR" sz="1400" dirty="0" err="1">
                  <a:latin typeface="Comic Sans MS" pitchFamily="66" charset="0"/>
                  <a:ea typeface="HY엽서L" pitchFamily="18" charset="-127"/>
                </a:rPr>
                <a:t>abcdef</a:t>
              </a:r>
              <a:endParaRPr lang="ko-KR" altLang="ko-KR" sz="1400" dirty="0">
                <a:latin typeface="Comic Sans MS" pitchFamily="66" charset="0"/>
                <a:ea typeface="HY엽서L" pitchFamily="18" charset="-127"/>
              </a:endParaRPr>
            </a:p>
            <a:p>
              <a:pPr algn="just"/>
              <a:r>
                <a:rPr lang="ko-KR" altLang="ko-KR" sz="1400" dirty="0">
                  <a:latin typeface="Comic Sans MS" pitchFamily="66" charset="0"/>
                  <a:ea typeface="HY엽서L" pitchFamily="18" charset="-127"/>
                </a:rPr>
                <a:t>ABCDEF</a:t>
              </a:r>
            </a:p>
            <a:p>
              <a:pPr algn="just"/>
              <a:r>
                <a:rPr lang="ko-KR" altLang="ko-KR" sz="1400" dirty="0">
                  <a:latin typeface="Comic Sans MS" pitchFamily="66" charset="0"/>
                  <a:ea typeface="HY엽서L" pitchFamily="18" charset="-127"/>
                </a:rPr>
                <a:t>^</a:t>
              </a:r>
              <a:r>
                <a:rPr lang="ko-KR" altLang="ko-KR" sz="1400" dirty="0" err="1">
                  <a:latin typeface="Comic Sans MS" pitchFamily="66" charset="0"/>
                  <a:ea typeface="HY엽서L" pitchFamily="18" charset="-127"/>
                </a:rPr>
                <a:t>Z</a:t>
              </a:r>
              <a:endParaRPr lang="en-US" altLang="ko-KR" sz="1400" dirty="0">
                <a:latin typeface="Comic Sans MS" pitchFamily="66" charset="0"/>
                <a:ea typeface="HY엽서L" pitchFamily="18" charset="-127"/>
              </a:endParaRPr>
            </a:p>
          </p:txBody>
        </p:sp>
      </p:grp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722034" y="1431763"/>
            <a:ext cx="7777162" cy="378565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stdio.h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&gt;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ctype.h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&gt;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main( 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void</a:t>
            </a:r>
            <a:r>
              <a:rPr lang="en-US" altLang="en-US" sz="1600" dirty="0">
                <a:latin typeface="Trebuchet MS" pitchFamily="34" charset="0"/>
              </a:rPr>
              <a:t> )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{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c;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while</a:t>
            </a:r>
            <a:r>
              <a:rPr lang="en-US" altLang="en-US" sz="1600" dirty="0">
                <a:latin typeface="Trebuchet MS" pitchFamily="34" charset="0"/>
              </a:rPr>
              <a:t>((c = </a:t>
            </a:r>
            <a:r>
              <a:rPr lang="en-US" altLang="en-US" sz="1600" dirty="0" err="1">
                <a:latin typeface="Trebuchet MS" pitchFamily="34" charset="0"/>
              </a:rPr>
              <a:t>getchar</a:t>
            </a:r>
            <a:r>
              <a:rPr lang="en-US" altLang="en-US" sz="1600" dirty="0">
                <a:latin typeface="Trebuchet MS" pitchFamily="34" charset="0"/>
              </a:rPr>
              <a:t>()) != EOF)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{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if</a:t>
            </a:r>
            <a:r>
              <a:rPr lang="en-US" altLang="en-US" sz="1600" dirty="0">
                <a:latin typeface="Trebuchet MS" pitchFamily="34" charset="0"/>
              </a:rPr>
              <a:t>( </a:t>
            </a:r>
            <a:r>
              <a:rPr lang="en-US" altLang="en-US" sz="1600" dirty="0" err="1">
                <a:latin typeface="Trebuchet MS" pitchFamily="34" charset="0"/>
              </a:rPr>
              <a:t>islower</a:t>
            </a:r>
            <a:r>
              <a:rPr lang="en-US" altLang="en-US" sz="1600" dirty="0">
                <a:latin typeface="Trebuchet MS" pitchFamily="34" charset="0"/>
              </a:rPr>
              <a:t>(c) )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	c = </a:t>
            </a:r>
            <a:r>
              <a:rPr lang="en-US" altLang="en-US" sz="1600" dirty="0" err="1">
                <a:latin typeface="Trebuchet MS" pitchFamily="34" charset="0"/>
              </a:rPr>
              <a:t>toupper</a:t>
            </a:r>
            <a:r>
              <a:rPr lang="en-US" altLang="en-US" sz="1600" dirty="0">
                <a:latin typeface="Trebuchet MS" pitchFamily="34" charset="0"/>
              </a:rPr>
              <a:t>(c);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</a:t>
            </a:r>
            <a:r>
              <a:rPr lang="en-US" altLang="en-US" sz="1600" dirty="0" err="1">
                <a:latin typeface="Trebuchet MS" pitchFamily="34" charset="0"/>
              </a:rPr>
              <a:t>putchar</a:t>
            </a:r>
            <a:r>
              <a:rPr lang="en-US" altLang="en-US" sz="1600" dirty="0">
                <a:latin typeface="Trebuchet MS" pitchFamily="34" charset="0"/>
              </a:rPr>
              <a:t>(c);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}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return</a:t>
            </a:r>
            <a:r>
              <a:rPr lang="en-US" altLang="en-US" sz="1600" dirty="0">
                <a:latin typeface="Trebuchet MS" pitchFamily="34" charset="0"/>
              </a:rPr>
              <a:t> 0;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}</a:t>
            </a:r>
            <a:endParaRPr lang="en-US" altLang="ko-KR" sz="1600" dirty="0">
              <a:latin typeface="Trebuchet MS" pitchFamily="34" charset="0"/>
            </a:endParaRP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-360437" y="386139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2" name="Text Box 36"/>
          <p:cNvSpPr txBox="1">
            <a:spLocks noChangeArrowheads="1"/>
          </p:cNvSpPr>
          <p:nvPr/>
        </p:nvSpPr>
        <p:spPr bwMode="auto">
          <a:xfrm>
            <a:off x="1958488" y="6405363"/>
            <a:ext cx="29049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400" dirty="0">
                <a:solidFill>
                  <a:schemeClr val="tx2"/>
                </a:solidFill>
                <a:latin typeface="+mj-ea"/>
                <a:ea typeface="+mj-ea"/>
              </a:rPr>
              <a:t>EOF</a:t>
            </a:r>
            <a:r>
              <a:rPr lang="ko-KR" altLang="en-US" sz="1400" dirty="0">
                <a:solidFill>
                  <a:schemeClr val="tx2"/>
                </a:solidFill>
                <a:latin typeface="+mj-ea"/>
                <a:ea typeface="+mj-ea"/>
              </a:rPr>
              <a:t>를 키보드에서 입력하려면 </a:t>
            </a:r>
            <a:r>
              <a:rPr lang="en-US" altLang="ko-KR" sz="1400" dirty="0">
                <a:solidFill>
                  <a:schemeClr val="tx2"/>
                </a:solidFill>
                <a:latin typeface="+mj-ea"/>
                <a:ea typeface="+mj-ea"/>
              </a:rPr>
              <a:t>^Z</a:t>
            </a:r>
            <a:endParaRPr lang="ko-KR" altLang="en-US" sz="14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" name="자유형 1"/>
          <p:cNvSpPr/>
          <p:nvPr/>
        </p:nvSpPr>
        <p:spPr>
          <a:xfrm>
            <a:off x="1249579" y="5880907"/>
            <a:ext cx="698739" cy="639351"/>
          </a:xfrm>
          <a:custGeom>
            <a:avLst/>
            <a:gdLst>
              <a:gd name="connsiteX0" fmla="*/ 698739 w 698739"/>
              <a:gd name="connsiteY0" fmla="*/ 639351 h 639351"/>
              <a:gd name="connsiteX1" fmla="*/ 629728 w 698739"/>
              <a:gd name="connsiteY1" fmla="*/ 578966 h 639351"/>
              <a:gd name="connsiteX2" fmla="*/ 595222 w 698739"/>
              <a:gd name="connsiteY2" fmla="*/ 527208 h 639351"/>
              <a:gd name="connsiteX3" fmla="*/ 569343 w 698739"/>
              <a:gd name="connsiteY3" fmla="*/ 466823 h 639351"/>
              <a:gd name="connsiteX4" fmla="*/ 552090 w 698739"/>
              <a:gd name="connsiteY4" fmla="*/ 415064 h 639351"/>
              <a:gd name="connsiteX5" fmla="*/ 543464 w 698739"/>
              <a:gd name="connsiteY5" fmla="*/ 389185 h 639351"/>
              <a:gd name="connsiteX6" fmla="*/ 526211 w 698739"/>
              <a:gd name="connsiteY6" fmla="*/ 354680 h 639351"/>
              <a:gd name="connsiteX7" fmla="*/ 508958 w 698739"/>
              <a:gd name="connsiteY7" fmla="*/ 277042 h 639351"/>
              <a:gd name="connsiteX8" fmla="*/ 500332 w 698739"/>
              <a:gd name="connsiteY8" fmla="*/ 190778 h 639351"/>
              <a:gd name="connsiteX9" fmla="*/ 483079 w 698739"/>
              <a:gd name="connsiteY9" fmla="*/ 104513 h 639351"/>
              <a:gd name="connsiteX10" fmla="*/ 465826 w 698739"/>
              <a:gd name="connsiteY10" fmla="*/ 78634 h 639351"/>
              <a:gd name="connsiteX11" fmla="*/ 388188 w 698739"/>
              <a:gd name="connsiteY11" fmla="*/ 44129 h 639351"/>
              <a:gd name="connsiteX12" fmla="*/ 336430 w 698739"/>
              <a:gd name="connsiteY12" fmla="*/ 26876 h 639351"/>
              <a:gd name="connsiteX13" fmla="*/ 276045 w 698739"/>
              <a:gd name="connsiteY13" fmla="*/ 9623 h 639351"/>
              <a:gd name="connsiteX14" fmla="*/ 215660 w 698739"/>
              <a:gd name="connsiteY14" fmla="*/ 997 h 639351"/>
              <a:gd name="connsiteX15" fmla="*/ 0 w 698739"/>
              <a:gd name="connsiteY15" fmla="*/ 997 h 63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98739" h="639351">
                <a:moveTo>
                  <a:pt x="698739" y="639351"/>
                </a:moveTo>
                <a:cubicBezTo>
                  <a:pt x="680607" y="624846"/>
                  <a:pt x="645748" y="599564"/>
                  <a:pt x="629728" y="578966"/>
                </a:cubicBezTo>
                <a:cubicBezTo>
                  <a:pt x="616998" y="562599"/>
                  <a:pt x="595222" y="527208"/>
                  <a:pt x="595222" y="527208"/>
                </a:cubicBezTo>
                <a:cubicBezTo>
                  <a:pt x="572404" y="435932"/>
                  <a:pt x="603384" y="543415"/>
                  <a:pt x="569343" y="466823"/>
                </a:cubicBezTo>
                <a:cubicBezTo>
                  <a:pt x="561957" y="450204"/>
                  <a:pt x="557841" y="432317"/>
                  <a:pt x="552090" y="415064"/>
                </a:cubicBezTo>
                <a:cubicBezTo>
                  <a:pt x="549215" y="406438"/>
                  <a:pt x="547531" y="397318"/>
                  <a:pt x="543464" y="389185"/>
                </a:cubicBezTo>
                <a:cubicBezTo>
                  <a:pt x="537713" y="377683"/>
                  <a:pt x="530726" y="366721"/>
                  <a:pt x="526211" y="354680"/>
                </a:cubicBezTo>
                <a:cubicBezTo>
                  <a:pt x="521968" y="343366"/>
                  <a:pt x="510089" y="285528"/>
                  <a:pt x="508958" y="277042"/>
                </a:cubicBezTo>
                <a:cubicBezTo>
                  <a:pt x="505139" y="248397"/>
                  <a:pt x="503709" y="219478"/>
                  <a:pt x="500332" y="190778"/>
                </a:cubicBezTo>
                <a:cubicBezTo>
                  <a:pt x="497887" y="169999"/>
                  <a:pt x="494794" y="127944"/>
                  <a:pt x="483079" y="104513"/>
                </a:cubicBezTo>
                <a:cubicBezTo>
                  <a:pt x="478443" y="95240"/>
                  <a:pt x="473157" y="85965"/>
                  <a:pt x="465826" y="78634"/>
                </a:cubicBezTo>
                <a:cubicBezTo>
                  <a:pt x="445319" y="58127"/>
                  <a:pt x="413817" y="52672"/>
                  <a:pt x="388188" y="44129"/>
                </a:cubicBezTo>
                <a:lnTo>
                  <a:pt x="336430" y="26876"/>
                </a:lnTo>
                <a:cubicBezTo>
                  <a:pt x="314250" y="19482"/>
                  <a:pt x="299885" y="13957"/>
                  <a:pt x="276045" y="9623"/>
                </a:cubicBezTo>
                <a:cubicBezTo>
                  <a:pt x="256040" y="5986"/>
                  <a:pt x="235983" y="1632"/>
                  <a:pt x="215660" y="997"/>
                </a:cubicBezTo>
                <a:cubicBezTo>
                  <a:pt x="143808" y="-1248"/>
                  <a:pt x="71887" y="997"/>
                  <a:pt x="0" y="997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971600" y="389267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dirty="0" smtClean="0"/>
              <a:t>Lab 3: </a:t>
            </a:r>
            <a:r>
              <a:rPr lang="ko-KR" altLang="en-US" dirty="0" err="1" smtClean="0"/>
              <a:t>문자변환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817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797719" y="1711703"/>
            <a:ext cx="7777162" cy="3736407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strcpy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  <a:ea typeface="바탕" pitchFamily="18" charset="-127"/>
              </a:rPr>
              <a:t>와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strcat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string.h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&gt;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stdio.h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&gt;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main( 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void</a:t>
            </a:r>
            <a:r>
              <a:rPr lang="en-US" altLang="en-US" sz="1600" dirty="0">
                <a:latin typeface="Trebuchet MS" pitchFamily="34" charset="0"/>
              </a:rPr>
              <a:t> )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{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char</a:t>
            </a:r>
            <a:r>
              <a:rPr lang="en-US" altLang="en-US" sz="1600" dirty="0">
                <a:latin typeface="Trebuchet MS" pitchFamily="34" charset="0"/>
              </a:rPr>
              <a:t> string[80];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latin typeface="Trebuchet MS" pitchFamily="34" charset="0"/>
              </a:rPr>
              <a:t>strcpy</a:t>
            </a:r>
            <a:r>
              <a:rPr lang="en-US" altLang="en-US" sz="1600" dirty="0">
                <a:latin typeface="Trebuchet MS" pitchFamily="34" charset="0"/>
              </a:rPr>
              <a:t>( string,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"Hello world from "</a:t>
            </a:r>
            <a:r>
              <a:rPr lang="en-US" altLang="en-US" sz="1600" dirty="0">
                <a:latin typeface="Trebuchet MS" pitchFamily="34" charset="0"/>
              </a:rPr>
              <a:t> ); 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latin typeface="Trebuchet MS" pitchFamily="34" charset="0"/>
              </a:rPr>
              <a:t>strcat</a:t>
            </a:r>
            <a:r>
              <a:rPr lang="en-US" altLang="en-US" sz="1600" dirty="0">
                <a:latin typeface="Trebuchet MS" pitchFamily="34" charset="0"/>
              </a:rPr>
              <a:t>( string,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strcpy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"</a:t>
            </a:r>
            <a:r>
              <a:rPr lang="en-US" altLang="en-US" sz="1600" dirty="0">
                <a:latin typeface="Trebuchet MS" pitchFamily="34" charset="0"/>
              </a:rPr>
              <a:t> );           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latin typeface="Trebuchet MS" pitchFamily="34" charset="0"/>
              </a:rPr>
              <a:t>strcat</a:t>
            </a:r>
            <a:r>
              <a:rPr lang="en-US" altLang="en-US" sz="1600" dirty="0">
                <a:latin typeface="Trebuchet MS" pitchFamily="34" charset="0"/>
              </a:rPr>
              <a:t>( string,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"and "</a:t>
            </a:r>
            <a:r>
              <a:rPr lang="en-US" altLang="en-US" sz="1600" dirty="0">
                <a:latin typeface="Trebuchet MS" pitchFamily="34" charset="0"/>
              </a:rPr>
              <a:t> );              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latin typeface="Trebuchet MS" pitchFamily="34" charset="0"/>
              </a:rPr>
              <a:t>strcat</a:t>
            </a:r>
            <a:r>
              <a:rPr lang="en-US" altLang="en-US" sz="1600" dirty="0">
                <a:latin typeface="Trebuchet MS" pitchFamily="34" charset="0"/>
              </a:rPr>
              <a:t>( string,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strcat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!"</a:t>
            </a:r>
            <a:r>
              <a:rPr lang="en-US" altLang="en-US" sz="1600" dirty="0">
                <a:latin typeface="Trebuchet MS" pitchFamily="34" charset="0"/>
              </a:rPr>
              <a:t> );          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latin typeface="Trebuchet MS" pitchFamily="34" charset="0"/>
              </a:rPr>
              <a:t>printf</a:t>
            </a:r>
            <a:r>
              <a:rPr lang="en-US" altLang="en-US" sz="1600" dirty="0">
                <a:latin typeface="Trebuchet MS" pitchFamily="34" charset="0"/>
              </a:rPr>
              <a:t>(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"string = %s\n"</a:t>
            </a:r>
            <a:r>
              <a:rPr lang="en-US" altLang="en-US" sz="1600" dirty="0">
                <a:latin typeface="Trebuchet MS" pitchFamily="34" charset="0"/>
              </a:rPr>
              <a:t>, string );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return</a:t>
            </a:r>
            <a:r>
              <a:rPr lang="en-US" altLang="en-US" sz="1600" dirty="0">
                <a:latin typeface="Trebuchet MS" pitchFamily="34" charset="0"/>
              </a:rPr>
              <a:t> 0;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}</a:t>
            </a:r>
            <a:endParaRPr lang="en-US" altLang="ko-KR" sz="1600" dirty="0">
              <a:latin typeface="Trebuchet MS" pitchFamily="34" charset="0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6D2C5D8-A66B-458B-8A05-2A258A83E276}"/>
              </a:ext>
            </a:extLst>
          </p:cNvPr>
          <p:cNvGrpSpPr/>
          <p:nvPr/>
        </p:nvGrpSpPr>
        <p:grpSpPr>
          <a:xfrm>
            <a:off x="824353" y="5661248"/>
            <a:ext cx="7777161" cy="824136"/>
            <a:chOff x="4874867" y="766531"/>
            <a:chExt cx="3663880" cy="140453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9FE1C2F-2358-4994-9AE1-28BFB52E2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6384" y="1821008"/>
              <a:ext cx="745785" cy="35006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113FF21-543F-4B60-AA79-7246636E943F}"/>
                </a:ext>
              </a:extLst>
            </p:cNvPr>
            <p:cNvSpPr/>
            <p:nvPr/>
          </p:nvSpPr>
          <p:spPr>
            <a:xfrm>
              <a:off x="4874867" y="766531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ko-KR" sz="1600" dirty="0" err="1">
                  <a:latin typeface="Trebuchet MS" panose="020B0603020202020204" pitchFamily="34" charset="0"/>
                  <a:ea typeface="HY엽서L" pitchFamily="18" charset="-127"/>
                </a:rPr>
                <a:t>string</a:t>
              </a:r>
              <a:r>
                <a:rPr lang="ko-KR" altLang="ko-KR" sz="1600" dirty="0">
                  <a:latin typeface="Trebuchet MS" panose="020B0603020202020204" pitchFamily="34" charset="0"/>
                  <a:ea typeface="HY엽서L" pitchFamily="18" charset="-127"/>
                </a:rPr>
                <a:t> = </a:t>
              </a:r>
              <a:r>
                <a:rPr lang="ko-KR" altLang="ko-KR" sz="1600" dirty="0" err="1">
                  <a:latin typeface="Trebuchet MS" panose="020B0603020202020204" pitchFamily="34" charset="0"/>
                  <a:ea typeface="HY엽서L" pitchFamily="18" charset="-127"/>
                </a:rPr>
                <a:t>Hello</a:t>
              </a:r>
              <a:r>
                <a:rPr lang="ko-KR" altLang="ko-KR" sz="1600" dirty="0">
                  <a:latin typeface="Trebuchet MS" panose="020B0603020202020204" pitchFamily="34" charset="0"/>
                  <a:ea typeface="HY엽서L" pitchFamily="18" charset="-127"/>
                </a:rPr>
                <a:t> </a:t>
              </a:r>
              <a:r>
                <a:rPr lang="ko-KR" altLang="ko-KR" sz="1600" dirty="0" err="1">
                  <a:latin typeface="Trebuchet MS" panose="020B0603020202020204" pitchFamily="34" charset="0"/>
                  <a:ea typeface="HY엽서L" pitchFamily="18" charset="-127"/>
                </a:rPr>
                <a:t>world</a:t>
              </a:r>
              <a:r>
                <a:rPr lang="ko-KR" altLang="ko-KR" sz="1600" dirty="0">
                  <a:latin typeface="Trebuchet MS" panose="020B0603020202020204" pitchFamily="34" charset="0"/>
                  <a:ea typeface="HY엽서L" pitchFamily="18" charset="-127"/>
                </a:rPr>
                <a:t> </a:t>
              </a:r>
              <a:r>
                <a:rPr lang="ko-KR" altLang="ko-KR" sz="1600" dirty="0" err="1">
                  <a:latin typeface="Trebuchet MS" panose="020B0603020202020204" pitchFamily="34" charset="0"/>
                  <a:ea typeface="HY엽서L" pitchFamily="18" charset="-127"/>
                </a:rPr>
                <a:t>from</a:t>
              </a:r>
              <a:r>
                <a:rPr lang="ko-KR" altLang="ko-KR" sz="1600" dirty="0">
                  <a:latin typeface="Trebuchet MS" panose="020B0603020202020204" pitchFamily="34" charset="0"/>
                  <a:ea typeface="HY엽서L" pitchFamily="18" charset="-127"/>
                </a:rPr>
                <a:t> </a:t>
              </a:r>
              <a:r>
                <a:rPr lang="ko-KR" altLang="ko-KR" sz="1600" dirty="0" err="1">
                  <a:latin typeface="Trebuchet MS" panose="020B0603020202020204" pitchFamily="34" charset="0"/>
                  <a:ea typeface="HY엽서L" pitchFamily="18" charset="-127"/>
                </a:rPr>
                <a:t>strcpy</a:t>
              </a:r>
              <a:r>
                <a:rPr lang="ko-KR" altLang="ko-KR" sz="1600" dirty="0">
                  <a:latin typeface="Trebuchet MS" panose="020B0603020202020204" pitchFamily="34" charset="0"/>
                  <a:ea typeface="HY엽서L" pitchFamily="18" charset="-127"/>
                </a:rPr>
                <a:t> and </a:t>
              </a:r>
              <a:r>
                <a:rPr lang="ko-KR" altLang="ko-KR" sz="1600" dirty="0" err="1">
                  <a:latin typeface="Trebuchet MS" panose="020B0603020202020204" pitchFamily="34" charset="0"/>
                  <a:ea typeface="HY엽서L" pitchFamily="18" charset="-127"/>
                </a:rPr>
                <a:t>strcat</a:t>
              </a:r>
              <a:r>
                <a:rPr lang="ko-KR" altLang="ko-KR" sz="1600" dirty="0">
                  <a:latin typeface="Trebuchet MS" panose="020B0603020202020204" pitchFamily="34" charset="0"/>
                  <a:ea typeface="HY엽서L" pitchFamily="18" charset="-127"/>
                </a:rPr>
                <a:t>!</a:t>
              </a:r>
              <a:endParaRPr lang="en-US" altLang="ko-KR" sz="1600" dirty="0">
                <a:latin typeface="Trebuchet MS" panose="020B0603020202020204" pitchFamily="34" charset="0"/>
                <a:ea typeface="HY엽서L" pitchFamily="18" charset="-127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8AE6D025-79D7-4122-9AE2-C25DF50E82D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755576" y="307042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dirty="0" smtClean="0"/>
              <a:t>Lab 4: </a:t>
            </a:r>
            <a:r>
              <a:rPr lang="en-US" altLang="ko-KR" dirty="0" err="1" smtClean="0"/>
              <a:t>strcpy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strcat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320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797719" y="1628800"/>
            <a:ext cx="7777162" cy="4105739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strcmp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()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함수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string.h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&gt;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stdio.h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&gt;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main( 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void</a:t>
            </a:r>
            <a:r>
              <a:rPr lang="en-US" altLang="en-US" sz="1600" dirty="0">
                <a:latin typeface="Trebuchet MS" pitchFamily="34" charset="0"/>
              </a:rPr>
              <a:t> 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char</a:t>
            </a:r>
            <a:r>
              <a:rPr lang="en-US" altLang="en-US" sz="1600" dirty="0">
                <a:latin typeface="Trebuchet MS" pitchFamily="34" charset="0"/>
              </a:rPr>
              <a:t> s1[80];	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첫번째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단어를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저장할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문자배열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char</a:t>
            </a:r>
            <a:r>
              <a:rPr lang="en-US" altLang="en-US" sz="1600" dirty="0">
                <a:latin typeface="Trebuchet MS" pitchFamily="34" charset="0"/>
              </a:rPr>
              <a:t> s2[80];	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두번째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단어를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저장할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문자배열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result;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latin typeface="Trebuchet MS" pitchFamily="34" charset="0"/>
              </a:rPr>
              <a:t>printf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첫번째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단어를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입력하시오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:"</a:t>
            </a:r>
            <a:r>
              <a:rPr lang="en-US" altLang="en-US" sz="1600" dirty="0">
                <a:latin typeface="Trebuchet MS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latin typeface="Trebuchet MS" pitchFamily="34" charset="0"/>
              </a:rPr>
              <a:t>scanf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"%s"</a:t>
            </a:r>
            <a:r>
              <a:rPr lang="en-US" altLang="en-US" sz="1600" dirty="0">
                <a:latin typeface="Trebuchet MS" pitchFamily="34" charset="0"/>
              </a:rPr>
              <a:t>, s1);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latin typeface="Trebuchet MS" pitchFamily="34" charset="0"/>
              </a:rPr>
              <a:t>printf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두번째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단어를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입력하시오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:"</a:t>
            </a:r>
            <a:r>
              <a:rPr lang="en-US" altLang="en-US" sz="1600" dirty="0">
                <a:latin typeface="Trebuchet MS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latin typeface="Trebuchet MS" pitchFamily="34" charset="0"/>
              </a:rPr>
              <a:t>scanf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"%s"</a:t>
            </a:r>
            <a:r>
              <a:rPr lang="en-US" altLang="en-US" sz="1600" dirty="0">
                <a:latin typeface="Trebuchet MS" pitchFamily="34" charset="0"/>
              </a:rPr>
              <a:t>, s2);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8AE6D025-79D7-4122-9AE2-C25DF50E82D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755576" y="307042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dirty="0" smtClean="0"/>
              <a:t>Lab 5: </a:t>
            </a:r>
            <a:r>
              <a:rPr lang="en-US" altLang="ko-KR" dirty="0" err="1" smtClean="0"/>
              <a:t>strcmp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981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CACA548-7260-4519-867F-EE6EE2227C3E}"/>
              </a:ext>
            </a:extLst>
          </p:cNvPr>
          <p:cNvGrpSpPr/>
          <p:nvPr/>
        </p:nvGrpSpPr>
        <p:grpSpPr>
          <a:xfrm>
            <a:off x="797719" y="5313862"/>
            <a:ext cx="7777161" cy="1160454"/>
            <a:chOff x="4874867" y="766531"/>
            <a:chExt cx="3663880" cy="140453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0734969-0BB7-4CCE-8350-5969C60C6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6384" y="1821008"/>
              <a:ext cx="745785" cy="35006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26A4D5B-2517-483B-AA7B-B05BDFDB1308}"/>
                </a:ext>
              </a:extLst>
            </p:cNvPr>
            <p:cNvSpPr/>
            <p:nvPr/>
          </p:nvSpPr>
          <p:spPr>
            <a:xfrm>
              <a:off x="4874867" y="766531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ko-KR" sz="1600" dirty="0">
                  <a:latin typeface="Trebuchet MS" panose="020B0603020202020204" pitchFamily="34" charset="0"/>
                  <a:ea typeface="굴림" panose="020B0600000101010101" pitchFamily="50" charset="-127"/>
                </a:rPr>
                <a:t>첫번째 단어를 </a:t>
              </a:r>
              <a:r>
                <a:rPr lang="ko-KR" altLang="ko-KR" sz="1600" dirty="0" err="1">
                  <a:latin typeface="Trebuchet MS" panose="020B0603020202020204" pitchFamily="34" charset="0"/>
                  <a:ea typeface="굴림" panose="020B0600000101010101" pitchFamily="50" charset="-127"/>
                </a:rPr>
                <a:t>입력하시오</a:t>
              </a:r>
              <a:r>
                <a:rPr lang="ko-KR" altLang="ko-KR" sz="1600" dirty="0">
                  <a:latin typeface="Trebuchet MS" panose="020B0603020202020204" pitchFamily="34" charset="0"/>
                  <a:ea typeface="굴림" panose="020B0600000101010101" pitchFamily="50" charset="-127"/>
                </a:rPr>
                <a:t>:</a:t>
              </a:r>
              <a:r>
                <a:rPr lang="en-US" altLang="ko-KR" sz="1600" dirty="0">
                  <a:latin typeface="Trebuchet MS" panose="020B0603020202020204" pitchFamily="34" charset="0"/>
                  <a:ea typeface="굴림" panose="020B0600000101010101" pitchFamily="50" charset="-127"/>
                </a:rPr>
                <a:t> cat</a:t>
              </a:r>
              <a:r>
                <a:rPr lang="ko-KR" altLang="en-US" sz="1600" dirty="0">
                  <a:latin typeface="Trebuchet MS" panose="020B0603020202020204" pitchFamily="34" charset="0"/>
                  <a:ea typeface="굴림" panose="020B0600000101010101" pitchFamily="50" charset="-127"/>
                </a:rPr>
                <a:t> </a:t>
              </a:r>
              <a:endParaRPr lang="ko-KR" altLang="ko-KR" sz="1600" dirty="0">
                <a:latin typeface="Trebuchet MS" panose="020B0603020202020204" pitchFamily="34" charset="0"/>
                <a:ea typeface="굴림" panose="020B0600000101010101" pitchFamily="50" charset="-127"/>
              </a:endParaRPr>
            </a:p>
            <a:p>
              <a:pPr algn="just"/>
              <a:r>
                <a:rPr lang="ko-KR" altLang="ko-KR" sz="1600" dirty="0">
                  <a:latin typeface="Trebuchet MS" panose="020B0603020202020204" pitchFamily="34" charset="0"/>
                  <a:ea typeface="굴림" panose="020B0600000101010101" pitchFamily="50" charset="-127"/>
                </a:rPr>
                <a:t>두번째 단어를 </a:t>
              </a:r>
              <a:r>
                <a:rPr lang="ko-KR" altLang="ko-KR" sz="1600" dirty="0" err="1">
                  <a:latin typeface="Trebuchet MS" panose="020B0603020202020204" pitchFamily="34" charset="0"/>
                  <a:ea typeface="굴림" panose="020B0600000101010101" pitchFamily="50" charset="-127"/>
                </a:rPr>
                <a:t>입력하시오</a:t>
              </a:r>
              <a:r>
                <a:rPr lang="ko-KR" altLang="ko-KR" sz="1600" dirty="0">
                  <a:latin typeface="Trebuchet MS" panose="020B0603020202020204" pitchFamily="34" charset="0"/>
                  <a:ea typeface="굴림" panose="020B0600000101010101" pitchFamily="50" charset="-127"/>
                </a:rPr>
                <a:t>:</a:t>
              </a:r>
              <a:r>
                <a:rPr lang="en-US" altLang="ko-KR" sz="1600" dirty="0">
                  <a:latin typeface="Trebuchet MS" panose="020B0603020202020204" pitchFamily="34" charset="0"/>
                  <a:ea typeface="굴림" panose="020B0600000101010101" pitchFamily="50" charset="-127"/>
                </a:rPr>
                <a:t> dog</a:t>
              </a:r>
            </a:p>
            <a:p>
              <a:pPr algn="just"/>
              <a:r>
                <a:rPr lang="en-US" altLang="ko-KR" sz="1600" dirty="0">
                  <a:latin typeface="Trebuchet MS" panose="020B0603020202020204" pitchFamily="34" charset="0"/>
                  <a:ea typeface="굴림" panose="020B0600000101010101" pitchFamily="50" charset="-127"/>
                </a:rPr>
                <a:t>cat</a:t>
              </a:r>
              <a:r>
                <a:rPr lang="ko-KR" altLang="ko-KR" sz="1600" dirty="0">
                  <a:latin typeface="Trebuchet MS" panose="020B0603020202020204" pitchFamily="34" charset="0"/>
                  <a:ea typeface="굴림" panose="020B0600000101010101" pitchFamily="50" charset="-127"/>
                </a:rPr>
                <a:t>가 </a:t>
              </a:r>
              <a:r>
                <a:rPr lang="en-US" altLang="ko-KR" sz="1600" dirty="0">
                  <a:latin typeface="Trebuchet MS" panose="020B0603020202020204" pitchFamily="34" charset="0"/>
                  <a:ea typeface="굴림" panose="020B0600000101010101" pitchFamily="50" charset="-127"/>
                </a:rPr>
                <a:t>dog</a:t>
              </a:r>
              <a:r>
                <a:rPr lang="ko-KR" altLang="ko-KR" sz="1600" dirty="0">
                  <a:latin typeface="Trebuchet MS" panose="020B0603020202020204" pitchFamily="34" charset="0"/>
                  <a:ea typeface="굴림" panose="020B0600000101010101" pitchFamily="50" charset="-127"/>
                </a:rPr>
                <a:t>보다 앞에 </a:t>
              </a:r>
              <a:r>
                <a:rPr lang="ko-KR" altLang="ko-KR" sz="1600" dirty="0" err="1">
                  <a:latin typeface="Trebuchet MS" panose="020B0603020202020204" pitchFamily="34" charset="0"/>
                  <a:ea typeface="굴림" panose="020B0600000101010101" pitchFamily="50" charset="-127"/>
                </a:rPr>
                <a:t>있읍니다</a:t>
              </a:r>
              <a:r>
                <a:rPr lang="ko-KR" altLang="ko-KR" sz="1600" dirty="0">
                  <a:latin typeface="Trebuchet MS" panose="020B0603020202020204" pitchFamily="34" charset="0"/>
                  <a:ea typeface="굴림" panose="020B0600000101010101" pitchFamily="50" charset="-127"/>
                </a:rPr>
                <a:t>.</a:t>
              </a:r>
              <a:endParaRPr lang="en-US" altLang="ko-KR" sz="1600" dirty="0">
                <a:latin typeface="Trebuchet MS" panose="020B0603020202020204" pitchFamily="34" charset="0"/>
                <a:ea typeface="굴림" panose="020B0600000101010101" pitchFamily="50" charset="-127"/>
              </a:endParaRPr>
            </a:p>
          </p:txBody>
        </p:sp>
      </p:grp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5: </a:t>
            </a:r>
            <a:r>
              <a:rPr lang="en-US" altLang="ko-KR" dirty="0" err="1" smtClean="0"/>
              <a:t>strcmp</a:t>
            </a:r>
            <a:endParaRPr lang="ko-KR" altLang="en-US" dirty="0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772468" y="1845171"/>
            <a:ext cx="7777162" cy="275152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result = </a:t>
            </a:r>
            <a:r>
              <a:rPr lang="en-US" altLang="en-US" sz="1600" dirty="0" err="1">
                <a:latin typeface="Trebuchet MS" pitchFamily="34" charset="0"/>
              </a:rPr>
              <a:t>strcmp</a:t>
            </a:r>
            <a:r>
              <a:rPr lang="en-US" altLang="en-US" sz="1600" dirty="0">
                <a:latin typeface="Trebuchet MS" pitchFamily="34" charset="0"/>
              </a:rPr>
              <a:t>(s1, s2);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if</a:t>
            </a:r>
            <a:r>
              <a:rPr lang="en-US" altLang="en-US" sz="1600" dirty="0">
                <a:latin typeface="Trebuchet MS" pitchFamily="34" charset="0"/>
              </a:rPr>
              <a:t>( result &lt; 0 )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</a:t>
            </a:r>
            <a:r>
              <a:rPr lang="en-US" altLang="en-US" sz="1600" dirty="0" err="1">
                <a:latin typeface="Trebuchet MS" pitchFamily="34" charset="0"/>
              </a:rPr>
              <a:t>printf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"%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s가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%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s보다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앞에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smtClean="0">
                <a:solidFill>
                  <a:srgbClr val="800000"/>
                </a:solidFill>
                <a:latin typeface="Trebuchet MS" pitchFamily="34" charset="0"/>
              </a:rPr>
              <a:t>있</a:t>
            </a:r>
            <a:r>
              <a:rPr lang="ko-KR" altLang="en-US" sz="1600" dirty="0" smtClean="0">
                <a:solidFill>
                  <a:srgbClr val="800000"/>
                </a:solidFill>
                <a:latin typeface="Trebuchet MS" pitchFamily="34" charset="0"/>
              </a:rPr>
              <a:t>습</a:t>
            </a:r>
            <a:r>
              <a:rPr lang="en-US" altLang="en-US" sz="1600" dirty="0" err="1" smtClean="0">
                <a:solidFill>
                  <a:srgbClr val="800000"/>
                </a:solidFill>
                <a:latin typeface="Trebuchet MS" pitchFamily="34" charset="0"/>
              </a:rPr>
              <a:t>니다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.\n"</a:t>
            </a:r>
            <a:r>
              <a:rPr lang="en-US" altLang="en-US" sz="1600" dirty="0">
                <a:latin typeface="Trebuchet MS" pitchFamily="34" charset="0"/>
              </a:rPr>
              <a:t>, s1, s2);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else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if</a:t>
            </a:r>
            <a:r>
              <a:rPr lang="en-US" altLang="en-US" sz="1600" dirty="0">
                <a:latin typeface="Trebuchet MS" pitchFamily="34" charset="0"/>
              </a:rPr>
              <a:t>( result == 0 )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</a:t>
            </a:r>
            <a:r>
              <a:rPr lang="en-US" altLang="en-US" sz="1600" dirty="0" err="1">
                <a:latin typeface="Trebuchet MS" pitchFamily="34" charset="0"/>
              </a:rPr>
              <a:t>printf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"%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s가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%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s와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같습니다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.\n"</a:t>
            </a:r>
            <a:r>
              <a:rPr lang="en-US" altLang="en-US" sz="1600" dirty="0">
                <a:latin typeface="Trebuchet MS" pitchFamily="34" charset="0"/>
              </a:rPr>
              <a:t>, s1, s2);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else</a:t>
            </a:r>
            <a:r>
              <a:rPr lang="en-US" altLang="en-US" sz="1600" dirty="0">
                <a:latin typeface="Trebuchet MS" pitchFamily="34" charset="0"/>
              </a:rPr>
              <a:t>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</a:t>
            </a:r>
            <a:r>
              <a:rPr lang="en-US" altLang="en-US" sz="1600" dirty="0" err="1">
                <a:latin typeface="Trebuchet MS" pitchFamily="34" charset="0"/>
              </a:rPr>
              <a:t>printf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"%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s가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%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s보다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뒤에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있습니다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.\n"</a:t>
            </a:r>
            <a:r>
              <a:rPr lang="en-US" altLang="en-US" sz="1600" dirty="0">
                <a:latin typeface="Trebuchet MS" pitchFamily="34" charset="0"/>
              </a:rPr>
              <a:t>, s1, s2);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return</a:t>
            </a:r>
            <a:r>
              <a:rPr lang="en-US" altLang="en-US" sz="1600" dirty="0">
                <a:latin typeface="Trebuchet MS" pitchFamily="34" charset="0"/>
              </a:rPr>
              <a:t> 0;</a:t>
            </a:r>
            <a:endParaRPr lang="en-US" altLang="ko-KR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}</a:t>
            </a:r>
            <a:endParaRPr lang="en-US" altLang="ko-KR" sz="1600" dirty="0">
              <a:latin typeface="Trebuchet MS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20543" y="4670629"/>
            <a:ext cx="289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tx2"/>
                </a:solidFill>
              </a:rPr>
              <a:t>알파벳 순으로 즉 사전에서 앞에 있다는 의미</a:t>
            </a:r>
          </a:p>
        </p:txBody>
      </p:sp>
      <p:sp>
        <p:nvSpPr>
          <p:cNvPr id="3" name="자유형 2"/>
          <p:cNvSpPr/>
          <p:nvPr/>
        </p:nvSpPr>
        <p:spPr>
          <a:xfrm>
            <a:off x="3943783" y="4987522"/>
            <a:ext cx="1052423" cy="1130061"/>
          </a:xfrm>
          <a:custGeom>
            <a:avLst/>
            <a:gdLst>
              <a:gd name="connsiteX0" fmla="*/ 1052423 w 1052423"/>
              <a:gd name="connsiteY0" fmla="*/ 0 h 1130061"/>
              <a:gd name="connsiteX1" fmla="*/ 948906 w 1052423"/>
              <a:gd name="connsiteY1" fmla="*/ 8627 h 1130061"/>
              <a:gd name="connsiteX2" fmla="*/ 819510 w 1052423"/>
              <a:gd name="connsiteY2" fmla="*/ 34506 h 1130061"/>
              <a:gd name="connsiteX3" fmla="*/ 681487 w 1052423"/>
              <a:gd name="connsiteY3" fmla="*/ 51759 h 1130061"/>
              <a:gd name="connsiteX4" fmla="*/ 655608 w 1052423"/>
              <a:gd name="connsiteY4" fmla="*/ 69012 h 1130061"/>
              <a:gd name="connsiteX5" fmla="*/ 603849 w 1052423"/>
              <a:gd name="connsiteY5" fmla="*/ 94891 h 1130061"/>
              <a:gd name="connsiteX6" fmla="*/ 577970 w 1052423"/>
              <a:gd name="connsiteY6" fmla="*/ 146649 h 1130061"/>
              <a:gd name="connsiteX7" fmla="*/ 543464 w 1052423"/>
              <a:gd name="connsiteY7" fmla="*/ 215661 h 1130061"/>
              <a:gd name="connsiteX8" fmla="*/ 508959 w 1052423"/>
              <a:gd name="connsiteY8" fmla="*/ 327804 h 1130061"/>
              <a:gd name="connsiteX9" fmla="*/ 500332 w 1052423"/>
              <a:gd name="connsiteY9" fmla="*/ 379563 h 1130061"/>
              <a:gd name="connsiteX10" fmla="*/ 517585 w 1052423"/>
              <a:gd name="connsiteY10" fmla="*/ 491706 h 1130061"/>
              <a:gd name="connsiteX11" fmla="*/ 552091 w 1052423"/>
              <a:gd name="connsiteY11" fmla="*/ 569344 h 1130061"/>
              <a:gd name="connsiteX12" fmla="*/ 586597 w 1052423"/>
              <a:gd name="connsiteY12" fmla="*/ 612476 h 1130061"/>
              <a:gd name="connsiteX13" fmla="*/ 621102 w 1052423"/>
              <a:gd name="connsiteY13" fmla="*/ 664234 h 1130061"/>
              <a:gd name="connsiteX14" fmla="*/ 629729 w 1052423"/>
              <a:gd name="connsiteY14" fmla="*/ 690114 h 1130061"/>
              <a:gd name="connsiteX15" fmla="*/ 655608 w 1052423"/>
              <a:gd name="connsiteY15" fmla="*/ 707366 h 1130061"/>
              <a:gd name="connsiteX16" fmla="*/ 707366 w 1052423"/>
              <a:gd name="connsiteY16" fmla="*/ 776378 h 1130061"/>
              <a:gd name="connsiteX17" fmla="*/ 759125 w 1052423"/>
              <a:gd name="connsiteY17" fmla="*/ 836763 h 1130061"/>
              <a:gd name="connsiteX18" fmla="*/ 767751 w 1052423"/>
              <a:gd name="connsiteY18" fmla="*/ 862642 h 1130061"/>
              <a:gd name="connsiteX19" fmla="*/ 759125 w 1052423"/>
              <a:gd name="connsiteY19" fmla="*/ 888521 h 1130061"/>
              <a:gd name="connsiteX20" fmla="*/ 698740 w 1052423"/>
              <a:gd name="connsiteY20" fmla="*/ 948906 h 1130061"/>
              <a:gd name="connsiteX21" fmla="*/ 638355 w 1052423"/>
              <a:gd name="connsiteY21" fmla="*/ 983412 h 1130061"/>
              <a:gd name="connsiteX22" fmla="*/ 595223 w 1052423"/>
              <a:gd name="connsiteY22" fmla="*/ 992038 h 1130061"/>
              <a:gd name="connsiteX23" fmla="*/ 465827 w 1052423"/>
              <a:gd name="connsiteY23" fmla="*/ 1017917 h 1130061"/>
              <a:gd name="connsiteX24" fmla="*/ 414068 w 1052423"/>
              <a:gd name="connsiteY24" fmla="*/ 1035170 h 1130061"/>
              <a:gd name="connsiteX25" fmla="*/ 327804 w 1052423"/>
              <a:gd name="connsiteY25" fmla="*/ 1052423 h 1130061"/>
              <a:gd name="connsiteX26" fmla="*/ 301925 w 1052423"/>
              <a:gd name="connsiteY26" fmla="*/ 1061049 h 1130061"/>
              <a:gd name="connsiteX27" fmla="*/ 267419 w 1052423"/>
              <a:gd name="connsiteY27" fmla="*/ 1069676 h 1130061"/>
              <a:gd name="connsiteX28" fmla="*/ 241540 w 1052423"/>
              <a:gd name="connsiteY28" fmla="*/ 1078302 h 1130061"/>
              <a:gd name="connsiteX29" fmla="*/ 129397 w 1052423"/>
              <a:gd name="connsiteY29" fmla="*/ 1095555 h 1130061"/>
              <a:gd name="connsiteX30" fmla="*/ 51759 w 1052423"/>
              <a:gd name="connsiteY30" fmla="*/ 1121434 h 1130061"/>
              <a:gd name="connsiteX31" fmla="*/ 25880 w 1052423"/>
              <a:gd name="connsiteY31" fmla="*/ 1130061 h 1130061"/>
              <a:gd name="connsiteX32" fmla="*/ 0 w 1052423"/>
              <a:gd name="connsiteY32" fmla="*/ 1130061 h 1130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052423" h="1130061">
                <a:moveTo>
                  <a:pt x="1052423" y="0"/>
                </a:moveTo>
                <a:cubicBezTo>
                  <a:pt x="1017917" y="2876"/>
                  <a:pt x="983157" y="3553"/>
                  <a:pt x="948906" y="8627"/>
                </a:cubicBezTo>
                <a:cubicBezTo>
                  <a:pt x="905395" y="15073"/>
                  <a:pt x="862898" y="27275"/>
                  <a:pt x="819510" y="34506"/>
                </a:cubicBezTo>
                <a:cubicBezTo>
                  <a:pt x="739246" y="47883"/>
                  <a:pt x="785155" y="41391"/>
                  <a:pt x="681487" y="51759"/>
                </a:cubicBezTo>
                <a:cubicBezTo>
                  <a:pt x="672861" y="57510"/>
                  <a:pt x="664881" y="64375"/>
                  <a:pt x="655608" y="69012"/>
                </a:cubicBezTo>
                <a:cubicBezTo>
                  <a:pt x="584173" y="104730"/>
                  <a:pt x="678024" y="45442"/>
                  <a:pt x="603849" y="94891"/>
                </a:cubicBezTo>
                <a:cubicBezTo>
                  <a:pt x="582167" y="159938"/>
                  <a:pt x="611415" y="79760"/>
                  <a:pt x="577970" y="146649"/>
                </a:cubicBezTo>
                <a:cubicBezTo>
                  <a:pt x="535763" y="231063"/>
                  <a:pt x="583436" y="155704"/>
                  <a:pt x="543464" y="215661"/>
                </a:cubicBezTo>
                <a:cubicBezTo>
                  <a:pt x="531369" y="251946"/>
                  <a:pt x="516581" y="289695"/>
                  <a:pt x="508959" y="327804"/>
                </a:cubicBezTo>
                <a:cubicBezTo>
                  <a:pt x="505529" y="344955"/>
                  <a:pt x="503208" y="362310"/>
                  <a:pt x="500332" y="379563"/>
                </a:cubicBezTo>
                <a:cubicBezTo>
                  <a:pt x="506083" y="416944"/>
                  <a:pt x="510615" y="454533"/>
                  <a:pt x="517585" y="491706"/>
                </a:cubicBezTo>
                <a:cubicBezTo>
                  <a:pt x="521569" y="512951"/>
                  <a:pt x="544936" y="558101"/>
                  <a:pt x="552091" y="569344"/>
                </a:cubicBezTo>
                <a:cubicBezTo>
                  <a:pt x="561976" y="584878"/>
                  <a:pt x="575768" y="597586"/>
                  <a:pt x="586597" y="612476"/>
                </a:cubicBezTo>
                <a:cubicBezTo>
                  <a:pt x="598793" y="629245"/>
                  <a:pt x="611032" y="646108"/>
                  <a:pt x="621102" y="664234"/>
                </a:cubicBezTo>
                <a:cubicBezTo>
                  <a:pt x="625518" y="672183"/>
                  <a:pt x="624048" y="683013"/>
                  <a:pt x="629729" y="690114"/>
                </a:cubicBezTo>
                <a:cubicBezTo>
                  <a:pt x="636206" y="698210"/>
                  <a:pt x="646982" y="701615"/>
                  <a:pt x="655608" y="707366"/>
                </a:cubicBezTo>
                <a:cubicBezTo>
                  <a:pt x="672861" y="730370"/>
                  <a:pt x="687033" y="756046"/>
                  <a:pt x="707366" y="776378"/>
                </a:cubicBezTo>
                <a:cubicBezTo>
                  <a:pt x="749203" y="818214"/>
                  <a:pt x="732849" y="797349"/>
                  <a:pt x="759125" y="836763"/>
                </a:cubicBezTo>
                <a:cubicBezTo>
                  <a:pt x="762000" y="845389"/>
                  <a:pt x="767751" y="853549"/>
                  <a:pt x="767751" y="862642"/>
                </a:cubicBezTo>
                <a:cubicBezTo>
                  <a:pt x="767751" y="871735"/>
                  <a:pt x="763636" y="880626"/>
                  <a:pt x="759125" y="888521"/>
                </a:cubicBezTo>
                <a:cubicBezTo>
                  <a:pt x="740087" y="921838"/>
                  <a:pt x="729281" y="927091"/>
                  <a:pt x="698740" y="948906"/>
                </a:cubicBezTo>
                <a:cubicBezTo>
                  <a:pt x="682174" y="960739"/>
                  <a:pt x="657311" y="977093"/>
                  <a:pt x="638355" y="983412"/>
                </a:cubicBezTo>
                <a:cubicBezTo>
                  <a:pt x="624445" y="988048"/>
                  <a:pt x="609368" y="988180"/>
                  <a:pt x="595223" y="992038"/>
                </a:cubicBezTo>
                <a:cubicBezTo>
                  <a:pt x="490087" y="1020711"/>
                  <a:pt x="602594" y="1002721"/>
                  <a:pt x="465827" y="1017917"/>
                </a:cubicBezTo>
                <a:cubicBezTo>
                  <a:pt x="448574" y="1023668"/>
                  <a:pt x="432007" y="1032180"/>
                  <a:pt x="414068" y="1035170"/>
                </a:cubicBezTo>
                <a:cubicBezTo>
                  <a:pt x="373402" y="1041948"/>
                  <a:pt x="363833" y="1042130"/>
                  <a:pt x="327804" y="1052423"/>
                </a:cubicBezTo>
                <a:cubicBezTo>
                  <a:pt x="319061" y="1054921"/>
                  <a:pt x="310668" y="1058551"/>
                  <a:pt x="301925" y="1061049"/>
                </a:cubicBezTo>
                <a:cubicBezTo>
                  <a:pt x="290525" y="1064306"/>
                  <a:pt x="278819" y="1066419"/>
                  <a:pt x="267419" y="1069676"/>
                </a:cubicBezTo>
                <a:cubicBezTo>
                  <a:pt x="258676" y="1072174"/>
                  <a:pt x="250361" y="1076097"/>
                  <a:pt x="241540" y="1078302"/>
                </a:cubicBezTo>
                <a:cubicBezTo>
                  <a:pt x="202014" y="1088184"/>
                  <a:pt x="171312" y="1090316"/>
                  <a:pt x="129397" y="1095555"/>
                </a:cubicBezTo>
                <a:lnTo>
                  <a:pt x="51759" y="1121434"/>
                </a:lnTo>
                <a:cubicBezTo>
                  <a:pt x="43133" y="1124310"/>
                  <a:pt x="34973" y="1130061"/>
                  <a:pt x="25880" y="1130061"/>
                </a:cubicBezTo>
                <a:lnTo>
                  <a:pt x="0" y="1130061"/>
                </a:ln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8AE6D025-79D7-4122-9AE2-C25DF50E82D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6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Lab </a:t>
            </a:r>
            <a:r>
              <a:rPr lang="en-US" altLang="ko-KR" dirty="0" smtClean="0"/>
              <a:t>6: </a:t>
            </a:r>
            <a:r>
              <a:rPr lang="ko-KR" altLang="en-US" dirty="0" smtClean="0"/>
              <a:t>문자열 </a:t>
            </a:r>
            <a:r>
              <a:rPr lang="ko-KR" altLang="en-US" dirty="0"/>
              <a:t>토큰 분리</a:t>
            </a:r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1100728" y="1196751"/>
            <a:ext cx="7777162" cy="5184577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strtok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함수의사용예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string.h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&gt;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stdio.h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&gt;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char</a:t>
            </a:r>
            <a:r>
              <a:rPr lang="en-US" altLang="en-US" sz="1600" dirty="0">
                <a:latin typeface="Trebuchet MS" pitchFamily="34" charset="0"/>
              </a:rPr>
              <a:t> s[] =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"Man is immortal, because he has a soul";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char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 err="1">
                <a:latin typeface="Trebuchet MS" pitchFamily="34" charset="0"/>
              </a:rPr>
              <a:t>seps</a:t>
            </a:r>
            <a:r>
              <a:rPr lang="en-US" altLang="en-US" sz="1600" dirty="0">
                <a:latin typeface="Trebuchet MS" pitchFamily="34" charset="0"/>
              </a:rPr>
              <a:t>[]   =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 ,\t\n";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char</a:t>
            </a:r>
            <a:r>
              <a:rPr lang="en-US" altLang="en-US" sz="1600" dirty="0">
                <a:latin typeface="Trebuchet MS" pitchFamily="34" charset="0"/>
              </a:rPr>
              <a:t> *token;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main( 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void</a:t>
            </a:r>
            <a:r>
              <a:rPr lang="en-US" altLang="en-US" sz="1600" dirty="0">
                <a:latin typeface="Trebuchet MS" pitchFamily="34" charset="0"/>
              </a:rPr>
              <a:t> )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{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문자열을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전달하고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다음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토큰을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얻는다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. 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token = </a:t>
            </a:r>
            <a:r>
              <a:rPr lang="en-US" altLang="en-US" sz="1600" dirty="0" err="1">
                <a:latin typeface="Trebuchet MS" pitchFamily="34" charset="0"/>
              </a:rPr>
              <a:t>strtok</a:t>
            </a:r>
            <a:r>
              <a:rPr lang="en-US" altLang="en-US" sz="1600" dirty="0">
                <a:latin typeface="Trebuchet MS" pitchFamily="34" charset="0"/>
              </a:rPr>
              <a:t>( s, </a:t>
            </a:r>
            <a:r>
              <a:rPr lang="en-US" altLang="en-US" sz="1600" dirty="0" err="1">
                <a:latin typeface="Trebuchet MS" pitchFamily="34" charset="0"/>
              </a:rPr>
              <a:t>seps</a:t>
            </a:r>
            <a:r>
              <a:rPr lang="en-US" altLang="en-US" sz="1600" dirty="0">
                <a:latin typeface="Trebuchet MS" pitchFamily="34" charset="0"/>
              </a:rPr>
              <a:t> );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while</a:t>
            </a:r>
            <a:r>
              <a:rPr lang="en-US" altLang="en-US" sz="1600" dirty="0">
                <a:latin typeface="Trebuchet MS" pitchFamily="34" charset="0"/>
              </a:rPr>
              <a:t>( token != NULL )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{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문자열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s에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토큰이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있는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동안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반복한다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. 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      </a:t>
            </a:r>
            <a:r>
              <a:rPr lang="en-US" altLang="en-US" sz="1600" dirty="0" err="1">
                <a:latin typeface="Trebuchet MS" pitchFamily="34" charset="0"/>
              </a:rPr>
              <a:t>printf</a:t>
            </a:r>
            <a:r>
              <a:rPr lang="en-US" altLang="en-US" sz="1600" dirty="0">
                <a:latin typeface="Trebuchet MS" pitchFamily="34" charset="0"/>
              </a:rPr>
              <a:t>(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토큰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: %s\n"</a:t>
            </a:r>
            <a:r>
              <a:rPr lang="en-US" altLang="en-US" sz="1600" dirty="0">
                <a:latin typeface="Trebuchet MS" pitchFamily="34" charset="0"/>
              </a:rPr>
              <a:t>, token );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다음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토큰을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itchFamily="34" charset="0"/>
              </a:rPr>
              <a:t>얻는다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. 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      token = </a:t>
            </a:r>
            <a:r>
              <a:rPr lang="en-US" altLang="en-US" sz="1600" dirty="0" err="1">
                <a:latin typeface="Trebuchet MS" pitchFamily="34" charset="0"/>
              </a:rPr>
              <a:t>strtok</a:t>
            </a:r>
            <a:r>
              <a:rPr lang="en-US" altLang="en-US" sz="1600" dirty="0">
                <a:latin typeface="Trebuchet MS" pitchFamily="34" charset="0"/>
              </a:rPr>
              <a:t>( NULL, </a:t>
            </a:r>
            <a:r>
              <a:rPr lang="en-US" altLang="en-US" sz="1600" dirty="0" err="1">
                <a:latin typeface="Trebuchet MS" pitchFamily="34" charset="0"/>
              </a:rPr>
              <a:t>seps</a:t>
            </a:r>
            <a:r>
              <a:rPr lang="en-US" altLang="en-US" sz="1600" dirty="0">
                <a:latin typeface="Trebuchet MS" pitchFamily="34" charset="0"/>
              </a:rPr>
              <a:t> ); </a:t>
            </a:r>
            <a:r>
              <a:rPr lang="en-US" altLang="en-US" sz="1600" dirty="0">
                <a:solidFill>
                  <a:srgbClr val="008000"/>
                </a:solidFill>
                <a:latin typeface="Trebuchet MS" pitchFamily="34" charset="0"/>
              </a:rPr>
              <a:t>// 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   	}	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}</a:t>
            </a:r>
            <a:endParaRPr lang="en-US" altLang="ko-KR" sz="1600" dirty="0">
              <a:latin typeface="Trebuchet MS" pitchFamily="34" charset="0"/>
            </a:endParaRPr>
          </a:p>
        </p:txBody>
      </p:sp>
      <p:sp>
        <p:nvSpPr>
          <p:cNvPr id="33796" name="Rectangle 8"/>
          <p:cNvSpPr>
            <a:spLocks noChangeArrowheads="1"/>
          </p:cNvSpPr>
          <p:nvPr/>
        </p:nvSpPr>
        <p:spPr bwMode="auto">
          <a:xfrm>
            <a:off x="0" y="2619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56B7186-1E74-46D4-9FEA-C7DD107F9B00}"/>
              </a:ext>
            </a:extLst>
          </p:cNvPr>
          <p:cNvGrpSpPr/>
          <p:nvPr/>
        </p:nvGrpSpPr>
        <p:grpSpPr>
          <a:xfrm>
            <a:off x="6342032" y="3949097"/>
            <a:ext cx="3023938" cy="2436786"/>
            <a:chOff x="4874867" y="766531"/>
            <a:chExt cx="3663880" cy="122248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D434510-DB54-413C-AE1B-8FF60452C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94614" y="1791836"/>
              <a:ext cx="886153" cy="197175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0D20EF3-2D4E-42B3-9B78-4E5B14E4AE90}"/>
                </a:ext>
              </a:extLst>
            </p:cNvPr>
            <p:cNvSpPr/>
            <p:nvPr/>
          </p:nvSpPr>
          <p:spPr>
            <a:xfrm>
              <a:off x="4874867" y="766531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토큰</a:t>
              </a:r>
              <a:r>
                <a:rPr lang="en-US" altLang="ko-KR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Man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토큰</a:t>
              </a:r>
              <a:r>
                <a:rPr lang="en-US" altLang="ko-KR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is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토큰</a:t>
              </a:r>
              <a:r>
                <a:rPr lang="en-US" altLang="ko-KR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immortal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토큰</a:t>
              </a:r>
              <a:r>
                <a:rPr lang="en-US" altLang="ko-KR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because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토큰</a:t>
              </a:r>
              <a:r>
                <a:rPr lang="en-US" altLang="ko-KR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he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토큰</a:t>
              </a:r>
              <a:r>
                <a:rPr lang="en-US" altLang="ko-KR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has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토큰</a:t>
              </a:r>
              <a:r>
                <a:rPr lang="en-US" altLang="ko-KR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a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토큰</a:t>
              </a:r>
              <a:r>
                <a:rPr lang="en-US" altLang="ko-KR" sz="1400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soul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663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Lab7: </a:t>
            </a:r>
            <a:r>
              <a:rPr lang="ko-KR" altLang="en-US" dirty="0"/>
              <a:t>영상 파일 이름 자동 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파일 이름을 자동으로 생성 프로그램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D3DB366E-FD25-4F0E-BF34-444652A6176A}"/>
              </a:ext>
            </a:extLst>
          </p:cNvPr>
          <p:cNvGrpSpPr/>
          <p:nvPr/>
        </p:nvGrpSpPr>
        <p:grpSpPr>
          <a:xfrm>
            <a:off x="990860" y="2636912"/>
            <a:ext cx="7777161" cy="2233132"/>
            <a:chOff x="4874867" y="-2171333"/>
            <a:chExt cx="3663880" cy="4342401"/>
          </a:xfrm>
        </p:grpSpPr>
        <p:pic>
          <p:nvPicPr>
            <p:cNvPr id="167" name="그림 166">
              <a:extLst>
                <a:ext uri="{FF2B5EF4-FFF2-40B4-BE49-F238E27FC236}">
                  <a16:creationId xmlns:a16="http://schemas.microsoft.com/office/drawing/2014/main" id="{8C08E363-7CB2-4FB3-B547-0F7DED3AC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6384" y="1821008"/>
              <a:ext cx="745785" cy="350060"/>
            </a:xfrm>
            <a:prstGeom prst="rect">
              <a:avLst/>
            </a:prstGeom>
          </p:spPr>
        </p:pic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73458F8F-B0E6-4445-8B71-234321A4728A}"/>
                </a:ext>
              </a:extLst>
            </p:cNvPr>
            <p:cNvSpPr/>
            <p:nvPr/>
          </p:nvSpPr>
          <p:spPr>
            <a:xfrm>
              <a:off x="4874867" y="-2171333"/>
              <a:ext cx="3663880" cy="4061758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altLang="ko-KR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image0.jpg</a:t>
              </a:r>
            </a:p>
            <a:p>
              <a:r>
                <a:rPr lang="de-DE" altLang="ko-KR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image1.jpg</a:t>
              </a:r>
            </a:p>
            <a:p>
              <a:r>
                <a:rPr lang="de-DE" altLang="ko-KR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image2.jpg</a:t>
              </a:r>
            </a:p>
            <a:p>
              <a:r>
                <a:rPr lang="de-DE" altLang="ko-KR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image3.jpg</a:t>
              </a:r>
            </a:p>
            <a:p>
              <a:r>
                <a:rPr lang="de-DE" altLang="ko-KR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image4.jpg</a:t>
              </a:r>
            </a:p>
            <a:p>
              <a:r>
                <a:rPr lang="de-DE" altLang="ko-KR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image5.jpg</a:t>
              </a:r>
              <a:endParaRPr lang="ko-KR" altLang="en-US" sz="1600" dirty="0">
                <a:solidFill>
                  <a:schemeClr val="bg1"/>
                </a:solidFill>
                <a:latin typeface="Trebuchet MS" panose="020B06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327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Lab </a:t>
            </a:r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116013" y="981075"/>
            <a:ext cx="7777162" cy="4793043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itchFamily="34" charset="0"/>
              </a:rPr>
              <a:t>stdio.h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&gt;</a:t>
            </a:r>
            <a:endParaRPr lang="en-US" altLang="ko-KR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itchFamily="34" charset="0"/>
              </a:rPr>
              <a:t>string.h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&gt;</a:t>
            </a:r>
            <a:endParaRPr lang="en-US" altLang="ko-KR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 main(</a:t>
            </a: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{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>
                <a:solidFill>
                  <a:srgbClr val="0000FF"/>
                </a:solidFill>
                <a:latin typeface="Trebuchet MS" pitchFamily="34" charset="0"/>
              </a:rPr>
              <a:t>	char</a:t>
            </a:r>
            <a:r>
              <a:rPr lang="en-US" altLang="ko-KR" sz="1600" dirty="0">
                <a:latin typeface="Trebuchet MS" pitchFamily="34" charset="0"/>
              </a:rPr>
              <a:t> filename[100];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	char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 s[100];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>
                <a:solidFill>
                  <a:srgbClr val="0000FF"/>
                </a:solidFill>
                <a:latin typeface="Trebuchet MS" pitchFamily="34" charset="0"/>
              </a:rPr>
              <a:t>	</a:t>
            </a:r>
            <a:r>
              <a:rPr lang="en-US" altLang="ko-KR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ko-KR" sz="1600" dirty="0">
                <a:latin typeface="Trebuchet MS" pitchFamily="34" charset="0"/>
              </a:rPr>
              <a:t> </a:t>
            </a:r>
            <a:r>
              <a:rPr lang="en-US" altLang="ko-KR" sz="1600" dirty="0" err="1">
                <a:latin typeface="Trebuchet MS" pitchFamily="34" charset="0"/>
              </a:rPr>
              <a:t>i</a:t>
            </a:r>
            <a:r>
              <a:rPr lang="en-US" altLang="ko-KR" sz="1600" dirty="0">
                <a:latin typeface="Trebuchet MS" pitchFamily="34" charset="0"/>
              </a:rPr>
              <a:t>;</a:t>
            </a:r>
            <a:endParaRPr lang="en-US" altLang="ko-KR" sz="1600" kern="0" dirty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	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(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=0;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 &lt; 6;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++){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strcpy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(filename,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"image"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);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>
                <a:latin typeface="Trebuchet MS" pitchFamily="34" charset="0"/>
              </a:rPr>
              <a:t>		</a:t>
            </a:r>
            <a:r>
              <a:rPr lang="en-US" altLang="ko-KR" sz="1600" dirty="0" err="1">
                <a:latin typeface="Trebuchet MS" pitchFamily="34" charset="0"/>
              </a:rPr>
              <a:t>sprintf</a:t>
            </a:r>
            <a:r>
              <a:rPr lang="en-US" altLang="ko-KR" sz="1600" dirty="0">
                <a:latin typeface="Trebuchet MS" pitchFamily="34" charset="0"/>
              </a:rPr>
              <a:t>(s, </a:t>
            </a:r>
            <a:r>
              <a:rPr lang="en-US" altLang="ko-KR" sz="1600" dirty="0">
                <a:solidFill>
                  <a:srgbClr val="A31515"/>
                </a:solidFill>
                <a:latin typeface="Trebuchet MS" pitchFamily="34" charset="0"/>
              </a:rPr>
              <a:t>"%d"</a:t>
            </a:r>
            <a:r>
              <a:rPr lang="en-US" altLang="ko-KR" sz="1600" dirty="0">
                <a:latin typeface="Trebuchet MS" pitchFamily="34" charset="0"/>
              </a:rPr>
              <a:t>, </a:t>
            </a:r>
            <a:r>
              <a:rPr lang="en-US" altLang="ko-KR" sz="1600" dirty="0" err="1">
                <a:latin typeface="Trebuchet MS" pitchFamily="34" charset="0"/>
              </a:rPr>
              <a:t>i</a:t>
            </a:r>
            <a:r>
              <a:rPr lang="en-US" altLang="ko-KR" sz="1600" dirty="0">
                <a:latin typeface="Trebuchet MS" pitchFamily="34" charset="0"/>
              </a:rPr>
              <a:t>);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strcat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(filename, s);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strcat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(filename,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itchFamily="34" charset="0"/>
              </a:rPr>
              <a:t>".jpg"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);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>
                <a:latin typeface="Trebuchet MS" pitchFamily="34" charset="0"/>
              </a:rPr>
              <a:t>		</a:t>
            </a:r>
            <a:r>
              <a:rPr lang="en-US" altLang="ko-KR" sz="1600" dirty="0" err="1">
                <a:latin typeface="Trebuchet MS" pitchFamily="34" charset="0"/>
              </a:rPr>
              <a:t>printf</a:t>
            </a:r>
            <a:r>
              <a:rPr lang="en-US" altLang="ko-KR" sz="1600" dirty="0">
                <a:latin typeface="Trebuchet MS" pitchFamily="34" charset="0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Trebuchet MS" pitchFamily="34" charset="0"/>
              </a:rPr>
              <a:t>"%s \n"</a:t>
            </a:r>
            <a:r>
              <a:rPr lang="en-US" altLang="ko-KR" sz="1600" dirty="0">
                <a:latin typeface="Trebuchet MS" pitchFamily="34" charset="0"/>
              </a:rPr>
              <a:t>, filename);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	}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itchFamily="34" charset="0"/>
              </a:rPr>
              <a:t>	return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 0;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}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7FFA5DC-2674-4CD0-AA3B-E2ED4AA478F1}"/>
              </a:ext>
            </a:extLst>
          </p:cNvPr>
          <p:cNvGrpSpPr/>
          <p:nvPr/>
        </p:nvGrpSpPr>
        <p:grpSpPr>
          <a:xfrm>
            <a:off x="6797096" y="4145740"/>
            <a:ext cx="2068972" cy="2233132"/>
            <a:chOff x="4874867" y="-2171333"/>
            <a:chExt cx="3663880" cy="434240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41DE30D-AC57-4925-B3AA-769F4A474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6384" y="1821008"/>
              <a:ext cx="745785" cy="350060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EE5467A-129E-49DE-9C0C-2FD0E96B112C}"/>
                </a:ext>
              </a:extLst>
            </p:cNvPr>
            <p:cNvSpPr/>
            <p:nvPr/>
          </p:nvSpPr>
          <p:spPr>
            <a:xfrm>
              <a:off x="4874867" y="-2171333"/>
              <a:ext cx="3663880" cy="4061758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altLang="ko-KR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image0.jpg</a:t>
              </a:r>
            </a:p>
            <a:p>
              <a:r>
                <a:rPr lang="de-DE" altLang="ko-KR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image1.jpg</a:t>
              </a:r>
            </a:p>
            <a:p>
              <a:r>
                <a:rPr lang="de-DE" altLang="ko-KR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image2.jpg</a:t>
              </a:r>
            </a:p>
            <a:p>
              <a:r>
                <a:rPr lang="de-DE" altLang="ko-KR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image3.jpg</a:t>
              </a:r>
            </a:p>
            <a:p>
              <a:r>
                <a:rPr lang="de-DE" altLang="ko-KR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image4.jpg</a:t>
              </a:r>
            </a:p>
            <a:p>
              <a:r>
                <a:rPr lang="de-DE" altLang="ko-KR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image5.jpg</a:t>
              </a:r>
              <a:endParaRPr lang="ko-KR" altLang="en-US" sz="1600" dirty="0">
                <a:solidFill>
                  <a:schemeClr val="bg1"/>
                </a:solidFill>
                <a:latin typeface="Trebuchet MS" panose="020B06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002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DC1F5-CDA8-9FD4-EB57-64F3C567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 </a:t>
            </a:r>
            <a:r>
              <a:rPr lang="en-US" altLang="ko-KR" dirty="0" smtClean="0"/>
              <a:t>8: </a:t>
            </a:r>
            <a:r>
              <a:rPr lang="ko-KR" altLang="en-US" dirty="0"/>
              <a:t>유효한 암호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413874-6410-B27D-D6B3-752B782C0E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유효한 암호는 </a:t>
            </a:r>
            <a:r>
              <a:rPr lang="en-US" altLang="ko-KR" dirty="0"/>
              <a:t>7 </a:t>
            </a:r>
            <a:r>
              <a:rPr lang="ko-KR" altLang="en-US" dirty="0"/>
              <a:t>글자 이상이고</a:t>
            </a:r>
            <a:r>
              <a:rPr lang="en-US" altLang="ko-KR" dirty="0"/>
              <a:t>, </a:t>
            </a:r>
            <a:r>
              <a:rPr lang="ko-KR" altLang="en-US" dirty="0"/>
              <a:t>하나 이상의 소문자</a:t>
            </a:r>
            <a:r>
              <a:rPr lang="en-US" altLang="ko-KR" dirty="0"/>
              <a:t>, </a:t>
            </a:r>
            <a:r>
              <a:rPr lang="ko-KR" altLang="en-US" dirty="0"/>
              <a:t>하나 이상의 대문자 및 하나 이상의 숫자를 포함해야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24C783B-1421-D070-FA30-640B2696DD29}"/>
              </a:ext>
            </a:extLst>
          </p:cNvPr>
          <p:cNvGrpSpPr/>
          <p:nvPr/>
        </p:nvGrpSpPr>
        <p:grpSpPr>
          <a:xfrm>
            <a:off x="971134" y="2996952"/>
            <a:ext cx="7777161" cy="1154713"/>
            <a:chOff x="4874867" y="766531"/>
            <a:chExt cx="3663880" cy="140453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60C390B-C3AA-5B71-B0D1-741CE4CA0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6384" y="1821008"/>
              <a:ext cx="745785" cy="35006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711A6F4-FF19-B764-6480-6E5FD7F3CAC9}"/>
                </a:ext>
              </a:extLst>
            </p:cNvPr>
            <p:cNvSpPr/>
            <p:nvPr/>
          </p:nvSpPr>
          <p:spPr>
            <a:xfrm>
              <a:off x="4874867" y="766531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패스워드를 </a:t>
              </a:r>
              <a:r>
                <a:rPr lang="ko-KR" altLang="en-US" sz="1400" b="1" dirty="0" err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입력하시오</a:t>
              </a:r>
              <a:r>
                <a:rPr lang="en-US" altLang="ko-KR" sz="1400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: abc1234</a:t>
              </a:r>
            </a:p>
            <a:p>
              <a:endParaRPr lang="en-US" altLang="ko-KR" sz="1400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r>
                <a:rPr lang="ko-KR" altLang="en-US" sz="1400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유효한 암호가 아닙니다</a:t>
              </a:r>
              <a:r>
                <a:rPr lang="en-US" altLang="ko-KR" sz="1400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.</a:t>
              </a:r>
              <a:endParaRPr lang="ko-KR" altLang="en-US" sz="1400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0191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8: </a:t>
            </a:r>
            <a:r>
              <a:rPr lang="ko-KR" altLang="en-US" dirty="0"/>
              <a:t>유효한 암호 확인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800767" y="1628800"/>
            <a:ext cx="7777162" cy="468051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marR="0" algn="just" rtl="0"/>
            <a:r>
              <a:rPr lang="en-US" altLang="ko-KR" sz="1600" b="0" i="0" u="none" strike="noStrike" baseline="0" dirty="0">
                <a:solidFill>
                  <a:srgbClr val="808080"/>
                </a:solidFill>
                <a:latin typeface="Century Schoolbook" panose="02040604050505020304" pitchFamily="18" charset="0"/>
              </a:rPr>
              <a:t>#include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stdio.h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8080"/>
                </a:solidFill>
                <a:latin typeface="Century Schoolbook" panose="02040604050505020304" pitchFamily="18" charset="0"/>
              </a:rPr>
              <a:t>#include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string.h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8080"/>
                </a:solidFill>
                <a:latin typeface="Century Schoolbook" panose="02040604050505020304" pitchFamily="18" charset="0"/>
              </a:rPr>
              <a:t>#include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ctype.h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&gt;</a:t>
            </a:r>
          </a:p>
          <a:p>
            <a:pPr algn="just"/>
            <a:r>
              <a:rPr lang="en-US" altLang="ko-KR" sz="1600" dirty="0">
                <a:solidFill>
                  <a:srgbClr val="808080"/>
                </a:solidFill>
                <a:latin typeface="Century Schoolbook" panose="02040604050505020304" pitchFamily="18" charset="0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dirty="0" err="1" smtClean="0">
                <a:solidFill>
                  <a:srgbClr val="A31515"/>
                </a:solidFill>
                <a:latin typeface="Century Schoolbook" panose="02040604050505020304" pitchFamily="18" charset="0"/>
              </a:rPr>
              <a:t>stdlib.h</a:t>
            </a:r>
            <a:r>
              <a:rPr lang="en-US" altLang="ko-KR" sz="1600" dirty="0">
                <a:solidFill>
                  <a:srgbClr val="A31515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main(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void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lower_case_count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0;	//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소문자 개수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upper_case_count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0;	//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대문자 개수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digit_count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0;	//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숫자 개수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char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pass[100];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len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printf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"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패스워드를 </a:t>
            </a:r>
            <a:r>
              <a:rPr lang="ko-KR" altLang="en-US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입력하시오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 smtClean="0">
                <a:solidFill>
                  <a:srgbClr val="A31515"/>
                </a:solidFill>
                <a:latin typeface="Century Schoolbook" panose="02040604050505020304" pitchFamily="18" charset="0"/>
              </a:rPr>
              <a:t>"</a:t>
            </a:r>
            <a:r>
              <a:rPr lang="en-US" altLang="ko-KR" sz="16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endParaRPr lang="en-US" altLang="ko-KR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//</a:t>
            </a:r>
            <a:r>
              <a:rPr lang="en-US" altLang="ko-KR" sz="1600" b="0" i="0" u="none" strike="noStrike" baseline="0" dirty="0" err="1" smtClean="0">
                <a:solidFill>
                  <a:srgbClr val="000000"/>
                </a:solidFill>
                <a:latin typeface="Century Schoolbook" panose="02040604050505020304" pitchFamily="18" charset="0"/>
              </a:rPr>
              <a:t>gets_s</a:t>
            </a:r>
            <a:r>
              <a:rPr lang="en-US" altLang="ko-KR" sz="16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(pass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sizeof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(pass</a:t>
            </a:r>
            <a:r>
              <a:rPr lang="en-US" altLang="ko-KR" sz="1600" b="0" i="0" u="none" strike="noStrike" baseline="0" dirty="0" smtClean="0">
                <a:solidFill>
                  <a:srgbClr val="000000"/>
                </a:solidFill>
                <a:latin typeface="Century Schoolbook" panose="02040604050505020304" pitchFamily="18" charset="0"/>
              </a:rPr>
              <a:t>));</a:t>
            </a:r>
          </a:p>
          <a:p>
            <a:pPr algn="just"/>
            <a:r>
              <a:rPr lang="en-US" altLang="ko-KR" sz="1400" dirty="0" smtClean="0">
                <a:latin typeface="Trebuchet MS" pitchFamily="34" charset="0"/>
              </a:rPr>
              <a:t>         </a:t>
            </a:r>
            <a:r>
              <a:rPr lang="en-US" altLang="ko-KR" sz="1400" dirty="0" err="1" smtClean="0">
                <a:latin typeface="Trebuchet MS" pitchFamily="34" charset="0"/>
              </a:rPr>
              <a:t>fgets</a:t>
            </a:r>
            <a:r>
              <a:rPr lang="en-US" altLang="ko-KR" sz="1400" dirty="0" smtClean="0">
                <a:latin typeface="Trebuchet MS" pitchFamily="34" charset="0"/>
              </a:rPr>
              <a:t>(pass, </a:t>
            </a:r>
            <a:r>
              <a:rPr lang="en-US" altLang="ko-KR" sz="1400" dirty="0" err="1" smtClean="0">
                <a:latin typeface="Trebuchet MS" pitchFamily="34" charset="0"/>
              </a:rPr>
              <a:t>sizeof</a:t>
            </a:r>
            <a:r>
              <a:rPr lang="en-US" altLang="ko-KR" sz="1400" dirty="0" smtClean="0">
                <a:latin typeface="Trebuchet MS" pitchFamily="34" charset="0"/>
              </a:rPr>
              <a:t>(pass),</a:t>
            </a:r>
            <a:r>
              <a:rPr lang="en-US" altLang="ko-KR" sz="1400" dirty="0" err="1">
                <a:latin typeface="Trebuchet MS" pitchFamily="34" charset="0"/>
              </a:rPr>
              <a:t>stdin</a:t>
            </a:r>
            <a:r>
              <a:rPr lang="en-US" altLang="ko-KR" sz="1400" dirty="0">
                <a:latin typeface="Trebuchet MS" pitchFamily="34" charset="0"/>
              </a:rPr>
              <a:t>);</a:t>
            </a:r>
          </a:p>
          <a:p>
            <a:pPr marR="0" algn="just" rtl="0"/>
            <a:endParaRPr lang="ko-KR" altLang="en-US" sz="1400" kern="0" dirty="0">
              <a:latin typeface="Trebuchet MS" panose="020B0603020202020204" pitchFamily="34" charset="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92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8: </a:t>
            </a:r>
            <a:r>
              <a:rPr lang="ko-KR" altLang="en-US" dirty="0"/>
              <a:t>유효한 암호 확인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683419" y="1700808"/>
            <a:ext cx="7777162" cy="468051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len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strlen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(pass);	//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문자열의 길이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len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&lt; 7) {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printf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"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유효한 암호가 아닙니다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. \n"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        exit(1);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for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0;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&lt;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len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++)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islower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(pass[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])) ++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lower_case_count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isupper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(pass[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])) ++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upper_case_count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isdigit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(pass[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])) ++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digit_count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lower_case_count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&gt; 0 &amp;&amp;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upper_case_count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&gt; 0 &amp;&amp;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digit_count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&gt; 0) 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printf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"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강한 암호입니다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. \n"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else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printf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"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유효한 암호가 아닙니다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\n"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return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0;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ko-KR" altLang="en-US" sz="1400" kern="0" dirty="0">
              <a:latin typeface="Trebuchet MS" panose="020B0603020202020204" pitchFamily="34" charset="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911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Lab </a:t>
            </a:r>
            <a:r>
              <a:rPr lang="en-US" altLang="ko-KR" dirty="0" smtClean="0"/>
              <a:t>9: </a:t>
            </a:r>
            <a:r>
              <a:rPr lang="ko-KR" altLang="en-US" dirty="0" smtClean="0"/>
              <a:t>문자열 </a:t>
            </a:r>
            <a:r>
              <a:rPr lang="ko-KR" altLang="en-US" dirty="0"/>
              <a:t>수치 변환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1116013" y="1772816"/>
            <a:ext cx="7777162" cy="4608511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R="0" algn="l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#include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stdio.h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#include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stdlib.h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l" rtl="0"/>
            <a:endParaRPr lang="ko-KR" altLang="en-US" sz="1600" b="0" i="0" u="none" strike="noStrike" baseline="0" dirty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main(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void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)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{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char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s1[] =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"100"</a:t>
            </a:r>
            <a:r>
              <a:rPr lang="en-US" altLang="ko-KR" sz="1600" b="0" i="0" u="none" strike="noStrike" baseline="0" dirty="0">
                <a:solidFill>
                  <a:srgbClr val="282828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char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s2[] =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"12.93"</a:t>
            </a:r>
            <a:r>
              <a:rPr lang="en-US" altLang="ko-KR" sz="1600" b="0" i="0" u="none" strike="noStrike" baseline="0" dirty="0">
                <a:solidFill>
                  <a:srgbClr val="282828"/>
                </a:solidFill>
                <a:latin typeface="Century Schoolbook" panose="02040604050505020304" pitchFamily="18" charset="0"/>
              </a:rPr>
              <a:t>;</a:t>
            </a:r>
          </a:p>
          <a:p>
            <a:pPr algn="l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algn="l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	double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d, result;</a:t>
            </a:r>
          </a:p>
          <a:p>
            <a:pPr algn="l"/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algn="l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atoi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(s1);</a:t>
            </a:r>
          </a:p>
          <a:p>
            <a:pPr algn="l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d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atof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(s2);</a:t>
            </a:r>
          </a:p>
          <a:p>
            <a:pPr marR="0" algn="l" rtl="0"/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result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+ d;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printf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"</a:t>
            </a:r>
            <a:r>
              <a:rPr lang="ko-KR" altLang="en-US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연산 결과는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%.2f</a:t>
            </a:r>
            <a:r>
              <a:rPr lang="ko-KR" altLang="en-US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입니다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.\n"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, result);</a:t>
            </a:r>
          </a:p>
          <a:p>
            <a:pPr marR="0" algn="l" rtl="0"/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return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0;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>
            <a:off x="0" y="2619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BB2D092-8049-4268-8890-C49F9745E8BC}"/>
              </a:ext>
            </a:extLst>
          </p:cNvPr>
          <p:cNvGrpSpPr/>
          <p:nvPr/>
        </p:nvGrpSpPr>
        <p:grpSpPr>
          <a:xfrm>
            <a:off x="5796136" y="4145740"/>
            <a:ext cx="3069932" cy="723420"/>
            <a:chOff x="4874867" y="-2171333"/>
            <a:chExt cx="3663880" cy="434240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B75261F-72F3-4A77-B426-3A930EE67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6384" y="1821008"/>
              <a:ext cx="745785" cy="35006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1AAE4B9-B833-4C7A-92A9-F180E3DD598B}"/>
                </a:ext>
              </a:extLst>
            </p:cNvPr>
            <p:cNvSpPr/>
            <p:nvPr/>
          </p:nvSpPr>
          <p:spPr>
            <a:xfrm>
              <a:off x="4874867" y="-2171333"/>
              <a:ext cx="3663880" cy="4061758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/>
                <a:t>연산 결과는 </a:t>
              </a:r>
              <a:r>
                <a:rPr lang="en-US" altLang="ko-KR" sz="1600" dirty="0"/>
                <a:t>112.93</a:t>
              </a:r>
              <a:r>
                <a:rPr lang="ko-KR" altLang="en-US" sz="1600" dirty="0"/>
                <a:t>입니다</a:t>
              </a:r>
              <a:r>
                <a:rPr lang="en-US" altLang="ko-KR" sz="1600" dirty="0"/>
                <a:t>. </a:t>
              </a:r>
              <a:endParaRPr lang="ko-KR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7311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연습</a:t>
            </a:r>
            <a:endParaRPr lang="ko-KR" altLang="en-US" dirty="0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683419" y="1700808"/>
            <a:ext cx="7777162" cy="156966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문자열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A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는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itchFamily="34" charset="0"/>
              </a:rPr>
              <a:t>strcpy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itchFamily="34" charset="0"/>
              </a:rPr>
              <a:t>, 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itchFamily="34" charset="0"/>
              </a:rPr>
              <a:t>strcat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를 </a:t>
            </a:r>
            <a:r>
              <a:rPr lang="ko-KR" altLang="en-US" sz="1600" kern="0" smtClean="0">
                <a:solidFill>
                  <a:srgbClr val="000000"/>
                </a:solidFill>
                <a:latin typeface="Trebuchet MS" pitchFamily="34" charset="0"/>
              </a:rPr>
              <a:t>통해 생성한다</a:t>
            </a:r>
            <a:r>
              <a:rPr lang="en-US" altLang="ko-KR" sz="1600" kern="0" smtClean="0">
                <a:solidFill>
                  <a:srgbClr val="000000"/>
                </a:solidFill>
                <a:latin typeface="Trebuchet MS" pitchFamily="34" charset="0"/>
              </a:rPr>
              <a:t>.</a:t>
            </a:r>
            <a:endParaRPr lang="en-US" altLang="ko-KR" sz="1600" kern="0" dirty="0" smtClean="0">
              <a:solidFill>
                <a:srgbClr val="000000"/>
              </a:solidFill>
              <a:latin typeface="Trebuchet MS" pitchFamily="34" charset="0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문자열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B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는 사용자로 부터 </a:t>
            </a:r>
            <a:r>
              <a:rPr lang="ko-KR" altLang="en-US" sz="1600" kern="0" dirty="0" err="1" smtClean="0">
                <a:solidFill>
                  <a:srgbClr val="000000"/>
                </a:solidFill>
                <a:latin typeface="Trebuchet MS" pitchFamily="34" charset="0"/>
              </a:rPr>
              <a:t>입력받는다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.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문자열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A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와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B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는 모두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“this is a good thing” 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값을 가져야 한다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.</a:t>
            </a: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문자열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A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와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B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를 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itchFamily="34" charset="0"/>
              </a:rPr>
              <a:t>strcmp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로 비교하고 결과를 </a:t>
            </a:r>
            <a:r>
              <a:rPr lang="ko-KR" altLang="en-US" sz="1600" kern="0" dirty="0" err="1" smtClean="0">
                <a:solidFill>
                  <a:srgbClr val="000000"/>
                </a:solidFill>
                <a:latin typeface="Trebuchet MS" pitchFamily="34" charset="0"/>
              </a:rPr>
              <a:t>출력하시오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(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예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. 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두 문자열 같습니다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/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itchFamily="34" charset="0"/>
              </a:rPr>
              <a:t>다릅니다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itchFamily="34" charset="0"/>
              </a:rPr>
              <a:t>)</a:t>
            </a:r>
            <a:endParaRPr lang="en-US" altLang="ko-KR" sz="1600" kern="0" dirty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96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475" y="371475"/>
            <a:ext cx="7623175" cy="571500"/>
          </a:xfrm>
        </p:spPr>
        <p:txBody>
          <a:bodyPr>
            <a:normAutofit fontScale="90000"/>
          </a:bodyPr>
          <a:lstStyle/>
          <a:p>
            <a:r>
              <a:rPr lang="en-US" altLang="ko-KR" sz="3600"/>
              <a:t>Q &amp; A</a:t>
            </a:r>
          </a:p>
        </p:txBody>
      </p:sp>
      <p:pic>
        <p:nvPicPr>
          <p:cNvPr id="145411" name="Picture 3" descr="MCj0240699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688" y="1978025"/>
            <a:ext cx="2797175" cy="202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412" name="Picture 4" descr="MCj0416502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3" y="2103438"/>
            <a:ext cx="1706562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70E792F-A479-4EE8-BED3-C37A9DF29A65}" type="slidenum">
              <a:rPr lang="en-US" altLang="ko-KR" smtClean="0"/>
              <a:pPr/>
              <a:t>17</a:t>
            </a:fld>
            <a:endParaRPr lang="en-US" altLang="ko-K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2606</TotalTime>
  <Words>1302</Words>
  <Application>Microsoft Office PowerPoint</Application>
  <PresentationFormat>화면 슬라이드 쇼(4:3)</PresentationFormat>
  <Paragraphs>253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30" baseType="lpstr">
      <vt:lpstr>HY얕은샘물M</vt:lpstr>
      <vt:lpstr>HY엽서L</vt:lpstr>
      <vt:lpstr>굴림</vt:lpstr>
      <vt:lpstr>맑은 고딕</vt:lpstr>
      <vt:lpstr>바탕</vt:lpstr>
      <vt:lpstr>Arial</vt:lpstr>
      <vt:lpstr>Century Schoolbook</vt:lpstr>
      <vt:lpstr>Comic Sans MS</vt:lpstr>
      <vt:lpstr>Symbol</vt:lpstr>
      <vt:lpstr>Trebuchet MS</vt:lpstr>
      <vt:lpstr>Tw Cen MT</vt:lpstr>
      <vt:lpstr>Wingdings</vt:lpstr>
      <vt:lpstr>가을</vt:lpstr>
      <vt:lpstr>제 12장 문자와 문자열</vt:lpstr>
      <vt:lpstr>Lab 1.1: 문자열 복사</vt:lpstr>
      <vt:lpstr>Lab 1.2:  문자열 길이 계산</vt:lpstr>
      <vt:lpstr>Lab 2: 문자열 입력</vt:lpstr>
      <vt:lpstr>PowerPoint 프레젠테이션</vt:lpstr>
      <vt:lpstr>PowerPoint 프레젠테이션</vt:lpstr>
      <vt:lpstr>PowerPoint 프레젠테이션</vt:lpstr>
      <vt:lpstr>Lab 5: strcmp</vt:lpstr>
      <vt:lpstr>Lab 6: 문자열 토큰 분리</vt:lpstr>
      <vt:lpstr>Lab7: 영상 파일 이름 자동 생성</vt:lpstr>
      <vt:lpstr>Lab 7</vt:lpstr>
      <vt:lpstr>Lab 8: 유효한 암호 확인</vt:lpstr>
      <vt:lpstr>Lab 8: 유효한 암호 확인</vt:lpstr>
      <vt:lpstr>Lab 8: 유효한 암호 확인</vt:lpstr>
      <vt:lpstr>Lab 9: 문자열 수치 변환 </vt:lpstr>
      <vt:lpstr>연습</vt:lpstr>
      <vt:lpstr>Q &amp; A</vt:lpstr>
    </vt:vector>
  </TitlesOfParts>
  <Company>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11장 포인터</dc:title>
  <dc:creator>web</dc:creator>
  <cp:lastModifiedBy>jdonam</cp:lastModifiedBy>
  <cp:revision>842</cp:revision>
  <dcterms:created xsi:type="dcterms:W3CDTF">2007-11-08T01:24:05Z</dcterms:created>
  <dcterms:modified xsi:type="dcterms:W3CDTF">2026-05-12T00:52:21Z</dcterms:modified>
</cp:coreProperties>
</file>