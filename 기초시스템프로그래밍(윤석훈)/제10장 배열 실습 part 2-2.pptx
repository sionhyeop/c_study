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6"/>
  </p:notesMasterIdLst>
  <p:handoutMasterIdLst>
    <p:handoutMasterId r:id="rId7"/>
  </p:handoutMasterIdLst>
  <p:sldIdLst>
    <p:sldId id="413" r:id="rId2"/>
    <p:sldId id="708" r:id="rId3"/>
    <p:sldId id="709" r:id="rId4"/>
    <p:sldId id="707" r:id="rId5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CFFCC"/>
    <a:srgbClr val="CAF8FE"/>
    <a:srgbClr val="FFCCFF"/>
    <a:srgbClr val="FF9999"/>
    <a:srgbClr val="FFCC66"/>
    <a:srgbClr val="CCFFFF"/>
    <a:srgbClr val="FFFF99"/>
    <a:srgbClr val="0000FF"/>
    <a:srgbClr val="FFCC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6" autoAdjust="0"/>
    <p:restoredTop sz="97501" autoAdjust="0"/>
  </p:normalViewPr>
  <p:slideViewPr>
    <p:cSldViewPr snapToGrid="0">
      <p:cViewPr varScale="1">
        <p:scale>
          <a:sx n="158" d="100"/>
          <a:sy n="158" d="100"/>
        </p:scale>
        <p:origin x="178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4920" y="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753" cy="5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143" tIns="49071" rIns="98143" bIns="4907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684" y="0"/>
            <a:ext cx="3078753" cy="5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143" tIns="49071" rIns="98143" bIns="4907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26"/>
            <a:ext cx="3078753" cy="5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143" tIns="49071" rIns="98143" bIns="4907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684" y="9721826"/>
            <a:ext cx="3078753" cy="5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143" tIns="49071" rIns="98143" bIns="4907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ea typeface="굴림" pitchFamily="50" charset="-127"/>
              </a:defRPr>
            </a:lvl1pPr>
          </a:lstStyle>
          <a:p>
            <a:pPr>
              <a:defRPr/>
            </a:pPr>
            <a:fld id="{262228DA-6DF8-41C4-AC8F-6E2689982EC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57116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753" cy="5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7" rIns="99075" bIns="49537" numCol="1" anchor="t" anchorCtr="0" compatLnSpc="1">
            <a:prstTxWarp prst="textNoShape">
              <a:avLst/>
            </a:prstTxWarp>
          </a:bodyPr>
          <a:lstStyle>
            <a:lvl1pPr defTabSz="989945" eaLnBrk="1" hangingPunct="1">
              <a:defRPr sz="13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684" y="0"/>
            <a:ext cx="3078753" cy="5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7" rIns="99075" bIns="49537" numCol="1" anchor="t" anchorCtr="0" compatLnSpc="1">
            <a:prstTxWarp prst="textNoShape">
              <a:avLst/>
            </a:prstTxWarp>
          </a:bodyPr>
          <a:lstStyle>
            <a:lvl1pPr algn="r" defTabSz="989945" eaLnBrk="1" hangingPunct="1">
              <a:defRPr sz="13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733" y="4861795"/>
            <a:ext cx="5682600" cy="4604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7" rIns="99075" bIns="495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26"/>
            <a:ext cx="3078753" cy="5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7" rIns="99075" bIns="49537" numCol="1" anchor="b" anchorCtr="0" compatLnSpc="1">
            <a:prstTxWarp prst="textNoShape">
              <a:avLst/>
            </a:prstTxWarp>
          </a:bodyPr>
          <a:lstStyle>
            <a:lvl1pPr defTabSz="989945" eaLnBrk="1" hangingPunct="1">
              <a:defRPr sz="13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684" y="9721826"/>
            <a:ext cx="3078753" cy="5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7" rIns="99075" bIns="49537" numCol="1" anchor="b" anchorCtr="0" compatLnSpc="1">
            <a:prstTxWarp prst="textNoShape">
              <a:avLst/>
            </a:prstTxWarp>
          </a:bodyPr>
          <a:lstStyle>
            <a:lvl1pPr algn="r" defTabSz="989945" eaLnBrk="1" hangingPunct="1">
              <a:defRPr sz="1300">
                <a:ea typeface="굴림" pitchFamily="50" charset="-127"/>
              </a:defRPr>
            </a:lvl1pPr>
          </a:lstStyle>
          <a:p>
            <a:pPr>
              <a:defRPr/>
            </a:pPr>
            <a:fld id="{ED3632B6-C19B-4FAB-A8E1-97FA343F0D4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69002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DBAA38F-4B5D-41A0-9D72-67E36335308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3643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0EA7A4B-E352-47A3-A059-C592E1DB00F4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0804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0B94C-C775-4465-BF50-458CD383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1CF3A2-F0E3-4275-A146-00ACA8C23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BC789B-A49D-4DB8-B310-6438A07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4748AD-152D-4CF4-96BE-A84A35E2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831429CB-CD5E-40D8-B4EB-B1D5FE6683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 marL="4572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82296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4572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0470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B69FA23-577A-4174-B079-CD3EAA1F8E81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4435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E0656931-C8A5-413E-9B57-76B293C1593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06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E5F57DA8-2C03-45A9-87D3-8D11AEF3702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596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DA9D104-CE06-477C-8C2A-3639BC80EDF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350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4BCAB5B-8A42-4529-B66A-BF56D54BC4C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223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FD9A8BA-51D7-4678-977D-28631F7009E1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7153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BDAE6BAC-25AD-49AF-8988-135AA9A5336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151717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73D70D-104F-4FC4-BB2A-05387A695176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9883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59C808C0-8DCB-4F09-80C3-E111BFE1D13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5892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381000"/>
            <a:ext cx="7654925" cy="571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333500"/>
            <a:ext cx="8212138" cy="4152900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89862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426DD91-57BF-4B54-8526-D830FF8DABE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18818" name="Picture 2" descr="Image result for java icon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4" y="339962"/>
            <a:ext cx="426171" cy="7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7042150" y="6591300"/>
            <a:ext cx="19907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ko-KR" altLang="en-US" sz="1200" i="1">
                <a:solidFill>
                  <a:srgbClr val="000099"/>
                </a:solidFill>
                <a:latin typeface="Trebuchet MS" pitchFamily="34" charset="0"/>
                <a:ea typeface="굴림" pitchFamily="50" charset="-127"/>
              </a:rPr>
              <a:t>쉽게 풀어쓴 </a:t>
            </a:r>
            <a:r>
              <a:rPr lang="en-US" altLang="ko-KR" sz="1200" i="1">
                <a:solidFill>
                  <a:srgbClr val="000099"/>
                </a:solidFill>
                <a:latin typeface="Trebuchet MS" pitchFamily="34" charset="0"/>
                <a:ea typeface="굴림" pitchFamily="50" charset="-127"/>
              </a:rPr>
              <a:t>C</a:t>
            </a:r>
            <a:r>
              <a:rPr lang="ko-KR" altLang="en-US" sz="1200" i="1">
                <a:solidFill>
                  <a:srgbClr val="000099"/>
                </a:solidFill>
                <a:latin typeface="Trebuchet MS" pitchFamily="34" charset="0"/>
                <a:ea typeface="굴림" pitchFamily="50" charset="-127"/>
              </a:rPr>
              <a:t>언어 </a:t>
            </a:r>
            <a:r>
              <a:rPr lang="en-US" altLang="ko-KR" sz="1200" i="1">
                <a:solidFill>
                  <a:srgbClr val="000099"/>
                </a:solidFill>
                <a:latin typeface="Trebuchet MS" pitchFamily="34" charset="0"/>
                <a:ea typeface="굴림" pitchFamily="50" charset="-127"/>
              </a:rPr>
              <a:t>Express</a:t>
            </a:r>
            <a:endParaRPr lang="ko-KR" altLang="en-US" sz="1200" i="1">
              <a:solidFill>
                <a:srgbClr val="000099"/>
              </a:solidFill>
              <a:latin typeface="Trebuchet MS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93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B8A08-3916-4E1A-926B-9DB33C65D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en-US" altLang="ko-KR" dirty="0"/>
              <a:t>10</a:t>
            </a:r>
            <a:r>
              <a:rPr lang="ko-KR" altLang="en-US" dirty="0"/>
              <a:t>장  배열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27B60-13C7-40ED-AD49-983CA3E0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07BA8-F121-45C7-B942-1436281A8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63" r="54355" b="24510"/>
          <a:stretch/>
        </p:blipFill>
        <p:spPr>
          <a:xfrm>
            <a:off x="2454612" y="1682024"/>
            <a:ext cx="3509682" cy="314842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A04F333-F7F3-4D37-A588-44F5853268D2}"/>
              </a:ext>
            </a:extLst>
          </p:cNvPr>
          <p:cNvSpPr txBox="1">
            <a:spLocks/>
          </p:cNvSpPr>
          <p:nvPr/>
        </p:nvSpPr>
        <p:spPr>
          <a:xfrm>
            <a:off x="1853453" y="813586"/>
            <a:ext cx="4932829" cy="685801"/>
          </a:xfrm>
          <a:prstGeom prst="rect">
            <a:avLst/>
          </a:prstGeom>
          <a:ln>
            <a:noFill/>
          </a:ln>
        </p:spPr>
        <p:txBody>
          <a:bodyPr vert="horz" anchor="b">
            <a:normAutofit fontScale="92500"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>
                <a:solidFill>
                  <a:srgbClr val="FFFF00"/>
                </a:solidFill>
              </a:rPr>
              <a:t>C</a:t>
            </a:r>
            <a:r>
              <a:rPr lang="ko-KR" altLang="en-US" dirty="0">
                <a:solidFill>
                  <a:srgbClr val="FFFF00"/>
                </a:solidFill>
              </a:rPr>
              <a:t> 언어 </a:t>
            </a:r>
            <a:r>
              <a:rPr lang="en-US" altLang="ko-KR" dirty="0" smtClean="0">
                <a:solidFill>
                  <a:srgbClr val="FFFF00"/>
                </a:solidFill>
              </a:rPr>
              <a:t>Express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BAA38F-4B5D-41A0-9D72-67E36335308E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0214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smtClean="0"/>
              <a:t>Lab1: </a:t>
            </a:r>
            <a:r>
              <a:rPr lang="ko-KR" altLang="en-US" sz="3600" dirty="0" smtClean="0"/>
              <a:t>벡터의 내적</a:t>
            </a:r>
            <a:endParaRPr lang="en-US" altLang="ko-KR" sz="3600" dirty="0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984250" y="1912126"/>
            <a:ext cx="7778750" cy="271702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127000" defTabSz="576000">
              <a:spcBef>
                <a:spcPts val="0"/>
              </a:spcBef>
              <a:spcAft>
                <a:spcPts val="0"/>
              </a:spcAft>
              <a:tabLst>
                <a:tab pos="254000" algn="l"/>
              </a:tabLst>
            </a:pPr>
            <a:endParaRPr lang="en-US" altLang="ko-KR" sz="16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127000" defTabSz="576000">
              <a:spcBef>
                <a:spcPts val="0"/>
              </a:spcBef>
              <a:spcAft>
                <a:spcPts val="0"/>
              </a:spcAft>
              <a:tabLst>
                <a:tab pos="254000" algn="l"/>
              </a:tabLs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	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임의의 길이 두개의 벡터의 내적을 구하고 반환하는 함수를 작성하고 테스트 하시오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. 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두개의 벡터가 직각이면 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(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즉 내적 값이 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0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이면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) ‘</a:t>
            </a:r>
            <a:r>
              <a:rPr lang="ko-KR" altLang="en-US" sz="1600" kern="0" dirty="0" err="1" smtClean="0">
                <a:solidFill>
                  <a:srgbClr val="0000FF"/>
                </a:solidFill>
                <a:latin typeface="Trebuchet MS" pitchFamily="34" charset="0"/>
              </a:rPr>
              <a:t>두벡터는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 직각을 이룹니다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＇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를 </a:t>
            </a:r>
            <a:r>
              <a:rPr lang="ko-KR" altLang="en-US" sz="1600" kern="0" dirty="0" err="1" smtClean="0">
                <a:solidFill>
                  <a:srgbClr val="0000FF"/>
                </a:solidFill>
                <a:latin typeface="Trebuchet MS" pitchFamily="34" charset="0"/>
              </a:rPr>
              <a:t>출력하시오</a:t>
            </a: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(main()</a:t>
            </a:r>
            <a:r>
              <a:rPr lang="ko-KR" altLang="en-US" sz="1600" kern="0" dirty="0">
                <a:solidFill>
                  <a:srgbClr val="0000FF"/>
                </a:solidFill>
                <a:latin typeface="Trebuchet MS" pitchFamily="34" charset="0"/>
              </a:rPr>
              <a:t>에서 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출력</a:t>
            </a:r>
            <a:r>
              <a:rPr lang="en-US" altLang="ko-KR" sz="1600" kern="0" smtClean="0">
                <a:solidFill>
                  <a:srgbClr val="0000FF"/>
                </a:solidFill>
                <a:latin typeface="Trebuchet MS" pitchFamily="34" charset="0"/>
              </a:rPr>
              <a:t>).</a:t>
            </a:r>
            <a:endParaRPr lang="en-US" altLang="ko-KR" sz="1600" kern="0" dirty="0" smtClean="0">
              <a:solidFill>
                <a:srgbClr val="0000FF"/>
              </a:solidFill>
              <a:latin typeface="Trebuchet MS" pitchFamily="34" charset="0"/>
            </a:endParaRPr>
          </a:p>
          <a:p>
            <a:pPr marL="127000" defTabSz="576000">
              <a:spcBef>
                <a:spcPts val="0"/>
              </a:spcBef>
              <a:spcAft>
                <a:spcPts val="0"/>
              </a:spcAft>
              <a:tabLst>
                <a:tab pos="254000" algn="l"/>
              </a:tabLst>
            </a:pP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-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배열을 이용하여 벡터 표현</a:t>
            </a:r>
            <a:endParaRPr lang="en-US" altLang="ko-KR" sz="1600" kern="0" dirty="0" smtClean="0">
              <a:solidFill>
                <a:srgbClr val="0000FF"/>
              </a:solidFill>
              <a:latin typeface="Trebuchet MS" pitchFamily="34" charset="0"/>
            </a:endParaRPr>
          </a:p>
          <a:p>
            <a:pPr marL="412750" indent="-285750" defTabSz="576000">
              <a:spcBef>
                <a:spcPts val="0"/>
              </a:spcBef>
              <a:spcAft>
                <a:spcPts val="0"/>
              </a:spcAft>
              <a:buFontTx/>
              <a:buChar char="-"/>
              <a:tabLst>
                <a:tab pos="254000" algn="l"/>
              </a:tabLst>
            </a:pP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함수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 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원형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(</a:t>
            </a:r>
            <a:r>
              <a:rPr lang="ko-KR" altLang="en-US" sz="1600" kern="0" dirty="0" err="1" smtClean="0">
                <a:solidFill>
                  <a:srgbClr val="0000FF"/>
                </a:solidFill>
                <a:latin typeface="Trebuchet MS" pitchFamily="34" charset="0"/>
              </a:rPr>
              <a:t>프로토타</a:t>
            </a:r>
            <a:r>
              <a:rPr lang="ko-KR" altLang="en-US" sz="1600" kern="0" dirty="0" err="1">
                <a:solidFill>
                  <a:srgbClr val="0000FF"/>
                </a:solidFill>
                <a:latin typeface="Trebuchet MS" pitchFamily="34" charset="0"/>
              </a:rPr>
              <a:t>입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):  double 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itchFamily="34" charset="0"/>
              </a:rPr>
              <a:t>get_dot_product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(double vec1[], double vec2[], n);</a:t>
            </a:r>
          </a:p>
          <a:p>
            <a:pPr marL="412750" indent="-285750" defTabSz="576000">
              <a:spcBef>
                <a:spcPts val="0"/>
              </a:spcBef>
              <a:spcAft>
                <a:spcPts val="0"/>
              </a:spcAft>
              <a:buFontTx/>
              <a:buChar char="-"/>
              <a:tabLst>
                <a:tab pos="254000" algn="l"/>
              </a:tabLs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n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: 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배열의 원소 개수</a:t>
            </a:r>
            <a:endParaRPr lang="en-US" altLang="ko-KR" sz="1600" kern="0" dirty="0" smtClean="0">
              <a:solidFill>
                <a:srgbClr val="0000FF"/>
              </a:solidFill>
              <a:latin typeface="Trebuchet MS" pitchFamily="34" charset="0"/>
            </a:endParaRPr>
          </a:p>
          <a:p>
            <a:pPr marL="127000" defTabSz="576000">
              <a:spcBef>
                <a:spcPts val="0"/>
              </a:spcBef>
              <a:spcAft>
                <a:spcPts val="0"/>
              </a:spcAft>
              <a:tabLst>
                <a:tab pos="254000" algn="l"/>
              </a:tabLst>
            </a:pP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-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테스트케이스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1: a={0.,0.,1.,0.,0.,10.}; b={1.,1.,0.,1.,1.,0.};</a:t>
            </a:r>
          </a:p>
          <a:p>
            <a:pPr marL="127000" defTabSz="576000">
              <a:spcBef>
                <a:spcPts val="0"/>
              </a:spcBef>
              <a:spcAft>
                <a:spcPts val="0"/>
              </a:spcAft>
              <a:tabLst>
                <a:tab pos="254000" algn="l"/>
              </a:tabLst>
            </a:pP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-</a:t>
            </a:r>
            <a:r>
              <a:rPr lang="ko-KR" altLang="en-US" sz="1600" kern="0" dirty="0" smtClean="0">
                <a:solidFill>
                  <a:srgbClr val="0000FF"/>
                </a:solidFill>
                <a:latin typeface="Trebuchet MS" pitchFamily="34" charset="0"/>
              </a:rPr>
              <a:t>테스트케이스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itchFamily="34" charset="0"/>
              </a:rPr>
              <a:t>2: a={10., 2., -4, 5}; b={0., 1., 3., -3}</a:t>
            </a:r>
          </a:p>
          <a:p>
            <a:pPr marL="127000" defTabSz="576000">
              <a:spcBef>
                <a:spcPts val="0"/>
              </a:spcBef>
              <a:spcAft>
                <a:spcPts val="0"/>
              </a:spcAft>
              <a:tabLst>
                <a:tab pos="254000" algn="l"/>
              </a:tabLst>
            </a:pP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DA9D104-CE06-477C-8C2A-3639BC80EDFE}" type="slidenum">
              <a:rPr lang="ko-KR" altLang="en-US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549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Lab2: </a:t>
            </a:r>
            <a:r>
              <a:rPr lang="ko-KR" altLang="en-US" dirty="0" smtClean="0"/>
              <a:t>배열에서 </a:t>
            </a:r>
            <a:r>
              <a:rPr lang="ko-KR" altLang="en-US" dirty="0" err="1" smtClean="0"/>
              <a:t>통계값</a:t>
            </a:r>
            <a:r>
              <a:rPr lang="ko-KR" altLang="en-US" dirty="0" smtClean="0"/>
              <a:t> 구하기</a:t>
            </a:r>
            <a:endParaRPr lang="ko-KR" altLang="en-US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06450" y="1586204"/>
            <a:ext cx="7759700" cy="480526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kumimoji="1" lang="en-US" altLang="ko-KR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-</a:t>
            </a:r>
            <a:r>
              <a:rPr kumimoji="1" lang="en-US" altLang="ko-KR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11</a:t>
            </a: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개의 </a:t>
            </a: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원소를 갖는 정수형 배열을 생성</a:t>
            </a:r>
            <a:endParaRPr kumimoji="1" lang="en-US" altLang="ko-KR" sz="2800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kumimoji="1" lang="en-US" altLang="ko-KR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-</a:t>
            </a:r>
            <a:r>
              <a:rPr kumimoji="1" lang="ko-KR" altLang="en-US" sz="2800" dirty="0" err="1" smtClean="0">
                <a:solidFill>
                  <a:srgbClr val="000000"/>
                </a:solidFill>
                <a:latin typeface="Trebuchet MS" panose="020B0603020202020204" pitchFamily="34" charset="0"/>
              </a:rPr>
              <a:t>난수로</a:t>
            </a: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초기화 </a:t>
            </a:r>
            <a:r>
              <a:rPr kumimoji="1" lang="en-US" altLang="ko-KR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(0-99</a:t>
            </a: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수 사이</a:t>
            </a:r>
            <a:r>
              <a:rPr kumimoji="1" lang="en-US" altLang="ko-KR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)</a:t>
            </a:r>
          </a:p>
          <a:p>
            <a:endParaRPr kumimoji="1" lang="en-US" altLang="ko-KR" sz="2800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kumimoji="1" lang="en-US" altLang="ko-KR" sz="28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514350" indent="-514350">
              <a:buAutoNum type="arabicPeriod"/>
            </a:pP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배열 원소의 최대값</a:t>
            </a:r>
            <a:r>
              <a:rPr kumimoji="1" lang="en-US" altLang="ko-KR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/</a:t>
            </a: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최소값</a:t>
            </a:r>
            <a:r>
              <a:rPr kumimoji="1" lang="en-US" altLang="ko-KR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/</a:t>
            </a: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평균값 출력</a:t>
            </a:r>
            <a:endParaRPr kumimoji="1" lang="en-US" altLang="ko-KR" sz="2800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514350" indent="-514350">
              <a:buAutoNum type="arabicPeriod"/>
            </a:pP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배열 원소의 표준편차 출력 </a:t>
            </a:r>
            <a:endParaRPr kumimoji="1" lang="en-US" altLang="ko-KR" sz="2800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514350" indent="-514350">
              <a:buAutoNum type="arabicPeriod"/>
            </a:pP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배열 원소의 </a:t>
            </a:r>
            <a:r>
              <a:rPr kumimoji="1" lang="ko-KR" altLang="en-US" sz="2800" dirty="0" err="1" smtClean="0">
                <a:solidFill>
                  <a:srgbClr val="000000"/>
                </a:solidFill>
                <a:latin typeface="Trebuchet MS" panose="020B0603020202020204" pitchFamily="34" charset="0"/>
              </a:rPr>
              <a:t>중간값</a:t>
            </a: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출력</a:t>
            </a:r>
            <a:endParaRPr kumimoji="1" lang="en-US" altLang="ko-KR" sz="2800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514350" indent="-514350">
              <a:buAutoNum type="arabicPeriod"/>
            </a:pPr>
            <a:endParaRPr kumimoji="1" lang="en-US" altLang="ko-KR" sz="28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힌트</a:t>
            </a:r>
            <a:r>
              <a:rPr kumimoji="1" lang="en-US" altLang="ko-KR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) </a:t>
            </a:r>
            <a:r>
              <a:rPr kumimoji="1" lang="ko-KR" alt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정렬 알고리즘 이용 가능</a:t>
            </a:r>
            <a:endParaRPr kumimoji="1" lang="en-US" altLang="ko-KR" sz="28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DA9D104-CE06-477C-8C2A-3639BC80EDFE}" type="slidenum">
              <a:rPr lang="ko-KR" altLang="en-US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271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371475"/>
            <a:ext cx="7623175" cy="571500"/>
          </a:xfrm>
        </p:spPr>
        <p:txBody>
          <a:bodyPr>
            <a:normAutofit fontScale="90000"/>
          </a:bodyPr>
          <a:lstStyle/>
          <a:p>
            <a:r>
              <a:rPr lang="en-US" altLang="ko-KR" sz="3600"/>
              <a:t>Q &amp; A</a:t>
            </a:r>
          </a:p>
        </p:txBody>
      </p:sp>
      <p:pic>
        <p:nvPicPr>
          <p:cNvPr id="738307" name="Picture 3" descr="MCj024069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068" y="2077064"/>
            <a:ext cx="2797175" cy="202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8308" name="Picture 4" descr="MCj04165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2" y="2273120"/>
            <a:ext cx="1706562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0EA7A4B-E352-47A3-A059-C592E1DB00F4}" type="slidenum">
              <a:rPr lang="ko-KR" altLang="en-US" smtClean="0"/>
              <a:pPr>
                <a:defRPr/>
              </a:pPr>
              <a:t>4</a:t>
            </a:fld>
            <a:endParaRPr lang="en-US" altLang="ko-K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7177</TotalTime>
  <Words>179</Words>
  <Application>Microsoft Office PowerPoint</Application>
  <PresentationFormat>화면 슬라이드 쇼(4:3)</PresentationFormat>
  <Paragraphs>25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HY얕은샘물M</vt:lpstr>
      <vt:lpstr>굴림</vt:lpstr>
      <vt:lpstr>Arial</vt:lpstr>
      <vt:lpstr>Trebuchet MS</vt:lpstr>
      <vt:lpstr>Tw Cen MT</vt:lpstr>
      <vt:lpstr>Wingdings</vt:lpstr>
      <vt:lpstr>가을</vt:lpstr>
      <vt:lpstr>제 10장  배열</vt:lpstr>
      <vt:lpstr>Lab1: 벡터의 내적</vt:lpstr>
      <vt:lpstr>Lab2: 배열에서 통계값 구하기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jdonam</cp:lastModifiedBy>
  <cp:revision>771</cp:revision>
  <cp:lastPrinted>2026-04-13T05:23:39Z</cp:lastPrinted>
  <dcterms:created xsi:type="dcterms:W3CDTF">2007-06-29T06:43:39Z</dcterms:created>
  <dcterms:modified xsi:type="dcterms:W3CDTF">2026-04-13T05:24:28Z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