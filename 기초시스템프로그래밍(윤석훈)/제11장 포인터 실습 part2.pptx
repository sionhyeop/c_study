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1"/>
  </p:sldMasterIdLst>
  <p:notesMasterIdLst>
    <p:notesMasterId r:id="rId6"/>
  </p:notesMasterIdLst>
  <p:handoutMasterIdLst>
    <p:handoutMasterId r:id="rId7"/>
  </p:handoutMasterIdLst>
  <p:sldIdLst>
    <p:sldId id="751" r:id="rId2"/>
    <p:sldId id="749" r:id="rId3"/>
    <p:sldId id="750" r:id="rId4"/>
    <p:sldId id="748" r:id="rId5"/>
  </p:sldIdLst>
  <p:sldSz cx="9144000" cy="6858000" type="screen4x3"/>
  <p:notesSz cx="6934200" cy="9220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4">
          <p15:clr>
            <a:srgbClr val="A4A3A4"/>
          </p15:clr>
        </p15:guide>
        <p15:guide id="2" pos="218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CCFFCC"/>
    <a:srgbClr val="CAF8FE"/>
    <a:srgbClr val="FFCCFF"/>
    <a:srgbClr val="FF9999"/>
    <a:srgbClr val="FFCC66"/>
    <a:srgbClr val="CCFFFF"/>
    <a:srgbClr val="FFFF99"/>
    <a:srgbClr val="0000FF"/>
    <a:srgbClr val="FFCCCC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56" autoAdjust="0"/>
    <p:restoredTop sz="97501" autoAdjust="0"/>
  </p:normalViewPr>
  <p:slideViewPr>
    <p:cSldViewPr snapToGrid="0">
      <p:cViewPr varScale="1">
        <p:scale>
          <a:sx n="158" d="100"/>
          <a:sy n="158" d="100"/>
        </p:scale>
        <p:origin x="1780" y="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21" d="100"/>
          <a:sy n="121" d="100"/>
        </p:scale>
        <p:origin x="4920" y="84"/>
      </p:cViewPr>
      <p:guideLst>
        <p:guide orient="horz" pos="2904"/>
        <p:guide pos="218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475" y="0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80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8238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80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fld id="{262228DA-6DF8-41C4-AC8F-6E2689982EC3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157116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9" tIns="46154" rIns="92309" bIns="46154" numCol="1" anchor="t" anchorCtr="0" compatLnSpc="1">
            <a:prstTxWarp prst="textNoShape">
              <a:avLst/>
            </a:prstTxWarp>
          </a:bodyPr>
          <a:lstStyle>
            <a:lvl1pPr defTabSz="922338" eaLnBrk="1" hangingPunct="1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75" y="0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9" tIns="46154" rIns="92309" bIns="46154" numCol="1" anchor="t" anchorCtr="0" compatLnSpc="1">
            <a:prstTxWarp prst="textNoShape">
              <a:avLst/>
            </a:prstTxWarp>
          </a:bodyPr>
          <a:lstStyle>
            <a:lvl1pPr algn="r" defTabSz="922338" eaLnBrk="1" hangingPunct="1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2050" y="692150"/>
            <a:ext cx="46101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5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9" tIns="46154" rIns="92309" bIns="4615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8238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9" tIns="46154" rIns="92309" bIns="46154" numCol="1" anchor="b" anchorCtr="0" compatLnSpc="1">
            <a:prstTxWarp prst="textNoShape">
              <a:avLst/>
            </a:prstTxWarp>
          </a:bodyPr>
          <a:lstStyle>
            <a:lvl1pPr defTabSz="922338" eaLnBrk="1" hangingPunct="1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9" tIns="46154" rIns="92309" bIns="46154" numCol="1" anchor="b" anchorCtr="0" compatLnSpc="1">
            <a:prstTxWarp prst="textNoShape">
              <a:avLst/>
            </a:prstTxWarp>
          </a:bodyPr>
          <a:lstStyle>
            <a:lvl1pPr algn="r" defTabSz="922338" eaLnBrk="1" hangingPunct="1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fld id="{ED3632B6-C19B-4FAB-A8E1-97FA343F0D48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169002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직사각형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부제목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ko-KR" altLang="en-US"/>
              <a:t>클릭하여 마스터 부제목 스타일 편집</a:t>
            </a:r>
            <a:endParaRPr kumimoji="0" lang="en-US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EDBAA38F-4B5D-41A0-9D72-67E36335308E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436436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F0EA7A4B-E352-47A3-A059-C592E1DB00F4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>
            <a:normAutofit/>
          </a:bodyPr>
          <a:lstStyle>
            <a:lvl1pPr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ko-KR" altLang="en-US" dirty="0"/>
              <a:t>마스터 텍스트 스타일 편집</a:t>
            </a:r>
          </a:p>
          <a:p>
            <a:pPr lvl="1" eaLnBrk="1" latinLnBrk="0" hangingPunct="1"/>
            <a:r>
              <a:rPr lang="ko-KR" altLang="en-US" dirty="0"/>
              <a:t>둘째 수준</a:t>
            </a:r>
          </a:p>
          <a:p>
            <a:pPr lvl="2" eaLnBrk="1" latinLnBrk="0" hangingPunct="1"/>
            <a:r>
              <a:rPr lang="ko-KR" altLang="en-US" dirty="0"/>
              <a:t>셋째 수준</a:t>
            </a:r>
          </a:p>
          <a:p>
            <a:pPr lvl="3" eaLnBrk="1" latinLnBrk="0" hangingPunct="1"/>
            <a:r>
              <a:rPr lang="ko-KR" altLang="en-US" dirty="0"/>
              <a:t>넷째 수준</a:t>
            </a:r>
          </a:p>
          <a:p>
            <a:pPr lvl="4" eaLnBrk="1" latinLnBrk="0" hangingPunct="1"/>
            <a:r>
              <a:rPr lang="ko-KR" altLang="en-US" dirty="0"/>
              <a:t>다섯째 수준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808045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F0B94C-C775-4465-BF50-458CD3831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C1CF3A2-F0E3-4275-A146-00ACA8C23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CBC789B-A49D-4DB8-B310-6438A0769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4748AD-152D-4CF4-96BE-A84A35E26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26DD91-57BF-4B54-8526-D830FF8DABED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내용 개체 틀 7">
            <a:extLst>
              <a:ext uri="{FF2B5EF4-FFF2-40B4-BE49-F238E27FC236}">
                <a16:creationId xmlns:a16="http://schemas.microsoft.com/office/drawing/2014/main" id="{831429CB-CD5E-40D8-B4EB-B1D5FE66833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>
            <a:normAutofit/>
          </a:bodyPr>
          <a:lstStyle>
            <a:lvl1pPr marL="457200" indent="-457200">
              <a:buClr>
                <a:schemeClr val="accent2">
                  <a:lumMod val="75000"/>
                </a:schemeClr>
              </a:buClr>
              <a:buSzPct val="100000"/>
              <a:buFont typeface="+mj-lt"/>
              <a:buAutoNum type="arabicPeriod"/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822960" indent="-457200">
              <a:buClr>
                <a:schemeClr val="accent2">
                  <a:lumMod val="75000"/>
                </a:schemeClr>
              </a:buClr>
              <a:buSzPct val="100000"/>
              <a:buFont typeface="+mj-lt"/>
              <a:buAutoNum type="arabicPeriod"/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457200">
              <a:buClr>
                <a:schemeClr val="accent2">
                  <a:lumMod val="75000"/>
                </a:schemeClr>
              </a:buClr>
              <a:buSzPct val="100000"/>
              <a:buFont typeface="+mj-lt"/>
              <a:buAutoNum type="arabicPeriod"/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457200">
              <a:buClr>
                <a:schemeClr val="accent2">
                  <a:lumMod val="75000"/>
                </a:schemeClr>
              </a:buClr>
              <a:buSzPct val="100000"/>
              <a:buFont typeface="+mj-lt"/>
              <a:buAutoNum type="arabicPeriod"/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457200">
              <a:buClr>
                <a:schemeClr val="accent2">
                  <a:lumMod val="75000"/>
                </a:schemeClr>
              </a:buClr>
              <a:buSzPct val="100000"/>
              <a:buFont typeface="+mj-lt"/>
              <a:buAutoNum type="arabicPeriod"/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ko-KR" altLang="en-US" dirty="0"/>
              <a:t>마스터 텍스트 스타일 편집</a:t>
            </a:r>
          </a:p>
          <a:p>
            <a:pPr lvl="1" eaLnBrk="1" latinLnBrk="0" hangingPunct="1"/>
            <a:r>
              <a:rPr lang="ko-KR" altLang="en-US" dirty="0"/>
              <a:t>둘째 수준</a:t>
            </a:r>
          </a:p>
          <a:p>
            <a:pPr lvl="2" eaLnBrk="1" latinLnBrk="0" hangingPunct="1"/>
            <a:r>
              <a:rPr lang="ko-KR" altLang="en-US" dirty="0"/>
              <a:t>셋째 수준</a:t>
            </a:r>
          </a:p>
          <a:p>
            <a:pPr lvl="3" eaLnBrk="1" latinLnBrk="0" hangingPunct="1"/>
            <a:r>
              <a:rPr lang="ko-KR" altLang="en-US" dirty="0"/>
              <a:t>넷째 수준</a:t>
            </a:r>
          </a:p>
          <a:p>
            <a:pPr lvl="4" eaLnBrk="1" latinLnBrk="0" hangingPunct="1"/>
            <a:r>
              <a:rPr lang="ko-KR" altLang="en-US" dirty="0"/>
              <a:t>다섯째 수준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804707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/>
              <a:t>마스터 텍스트 스타일 편집</a:t>
            </a:r>
          </a:p>
        </p:txBody>
      </p:sp>
      <p:sp>
        <p:nvSpPr>
          <p:cNvPr id="7" name="직사각형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B69FA23-577A-4174-B079-CD3EAA1F8E81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044353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>
              <a:defRPr/>
            </a:pPr>
            <a:endParaRPr lang="en-US" altLang="ko-KR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>
              <a:defRPr/>
            </a:pPr>
            <a:fld id="{E0656931-C8A5-413E-9B57-76B293C15939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206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>
              <a:defRPr/>
            </a:pPr>
            <a:endParaRPr lang="en-US" altLang="ko-KR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>
              <a:defRPr/>
            </a:pPr>
            <a:fld id="{E5F57DA8-2C03-45A9-87D3-8D11AEF3702D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>
              <a:defRPr/>
            </a:pPr>
            <a:endParaRPr lang="en-US" altLang="ko-KR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 편집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735967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DA9D104-CE06-477C-8C2A-3639BC80EDFE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13503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E4BCAB5B-8A42-4529-B66A-BF56D54BC4C9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12239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9FD9A8BA-51D7-4678-977D-28631F7009E1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 편집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771537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 편집</a:t>
            </a:r>
          </a:p>
        </p:txBody>
      </p:sp>
      <p:sp>
        <p:nvSpPr>
          <p:cNvPr id="8" name="직사각형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직사각형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pPr>
              <a:defRPr/>
            </a:pPr>
            <a:endParaRPr lang="en-US" altLang="ko-KR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BDAE6BAC-25AD-49AF-8988-135AA9A5336E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1517177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73D70D-104F-4FC4-BB2A-05387A695176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898834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7" name="직사각형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pPr>
              <a:defRPr/>
            </a:pPr>
            <a:fld id="{59C808C0-8DCB-4F09-80C3-E111BFE1D139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958920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60475" y="381000"/>
            <a:ext cx="7654925" cy="5715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685800" y="1333500"/>
            <a:ext cx="8212138" cy="4152900"/>
          </a:xfrm>
        </p:spPr>
        <p:txBody>
          <a:bodyPr/>
          <a:lstStyle/>
          <a:p>
            <a:pPr lvl="0"/>
            <a:r>
              <a:rPr lang="ko-KR" altLang="en-US" noProof="0"/>
              <a:t>표를 추가하려면 아이콘을 클릭하십시오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26DD91-57BF-4B54-8526-D830FF8DABED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9898624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dirty="0"/>
              <a:t>둘째 수준</a:t>
            </a:r>
          </a:p>
          <a:p>
            <a:pPr lvl="2" eaLnBrk="1" latinLnBrk="0" hangingPunct="1"/>
            <a:r>
              <a:rPr kumimoji="0" lang="ko-KR" altLang="en-US" dirty="0"/>
              <a:t>셋째 수준</a:t>
            </a:r>
          </a:p>
          <a:p>
            <a:pPr lvl="3" eaLnBrk="1" latinLnBrk="0" hangingPunct="1"/>
            <a:r>
              <a:rPr kumimoji="0" lang="ko-KR" altLang="en-US" dirty="0"/>
              <a:t>넷째 수준</a:t>
            </a:r>
          </a:p>
          <a:p>
            <a:pPr lvl="4" eaLnBrk="1" latinLnBrk="0" hangingPunct="1"/>
            <a:r>
              <a:rPr kumimoji="0" lang="ko-KR" altLang="en-US" dirty="0"/>
              <a:t>다섯째 수준</a:t>
            </a:r>
            <a:endParaRPr kumimoji="0" lang="en-US" dirty="0"/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직사각형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C426DD91-57BF-4B54-8526-D830FF8DABED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pic>
        <p:nvPicPr>
          <p:cNvPr id="418818" name="Picture 2" descr="Image result for java icon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14" y="339962"/>
            <a:ext cx="426171" cy="767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7042150" y="6591300"/>
            <a:ext cx="19907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defRPr/>
            </a:pPr>
            <a:r>
              <a:rPr lang="ko-KR" altLang="en-US" sz="1200" i="1">
                <a:solidFill>
                  <a:srgbClr val="000099"/>
                </a:solidFill>
                <a:latin typeface="Trebuchet MS" pitchFamily="34" charset="0"/>
                <a:ea typeface="굴림" pitchFamily="50" charset="-127"/>
              </a:rPr>
              <a:t>쉽게 풀어쓴 </a:t>
            </a:r>
            <a:r>
              <a:rPr lang="en-US" altLang="ko-KR" sz="1200" i="1">
                <a:solidFill>
                  <a:srgbClr val="000099"/>
                </a:solidFill>
                <a:latin typeface="Trebuchet MS" pitchFamily="34" charset="0"/>
                <a:ea typeface="굴림" pitchFamily="50" charset="-127"/>
              </a:rPr>
              <a:t>C</a:t>
            </a:r>
            <a:r>
              <a:rPr lang="ko-KR" altLang="en-US" sz="1200" i="1">
                <a:solidFill>
                  <a:srgbClr val="000099"/>
                </a:solidFill>
                <a:latin typeface="Trebuchet MS" pitchFamily="34" charset="0"/>
                <a:ea typeface="굴림" pitchFamily="50" charset="-127"/>
              </a:rPr>
              <a:t>언어 </a:t>
            </a:r>
            <a:r>
              <a:rPr lang="en-US" altLang="ko-KR" sz="1200" i="1">
                <a:solidFill>
                  <a:srgbClr val="000099"/>
                </a:solidFill>
                <a:latin typeface="Trebuchet MS" pitchFamily="34" charset="0"/>
                <a:ea typeface="굴림" pitchFamily="50" charset="-127"/>
              </a:rPr>
              <a:t>Express</a:t>
            </a:r>
            <a:endParaRPr lang="ko-KR" altLang="en-US" sz="1200" i="1">
              <a:solidFill>
                <a:srgbClr val="000099"/>
              </a:solidFill>
              <a:latin typeface="Trebuchet MS" pitchFamily="34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310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93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</p:sldLayoutIdLst>
  <p:hf hdr="0" ftr="0" dt="0"/>
  <p:txStyles>
    <p:titleStyle>
      <a:lvl1pPr algn="l" rtl="0" eaLnBrk="1" latinLnBrk="1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1" hangingPunct="1">
        <a:spcBef>
          <a:spcPts val="700"/>
        </a:spcBef>
        <a:buClr>
          <a:schemeClr val="accent2"/>
        </a:buClr>
        <a:buSzPct val="60000"/>
        <a:buFont typeface="Wingdings" panose="05000000000000000000" pitchFamily="2" charset="2"/>
        <a:buChar char="l"/>
        <a:defRPr kumimoji="0" sz="20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1pPr>
      <a:lvl2pPr marL="640080" indent="-274320" algn="l" rtl="0" eaLnBrk="1" latinLnBrk="1" hangingPunct="1">
        <a:spcBef>
          <a:spcPts val="550"/>
        </a:spcBef>
        <a:buClr>
          <a:schemeClr val="accent1"/>
        </a:buClr>
        <a:buSzPct val="70000"/>
        <a:buFont typeface="Wingdings" panose="05000000000000000000" pitchFamily="2" charset="2"/>
        <a:buChar char="l"/>
        <a:defRPr kumimoji="0" sz="20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2pPr>
      <a:lvl3pPr marL="914400" indent="-228600" algn="l" rtl="0" eaLnBrk="1" latinLnBrk="1" hangingPunct="1">
        <a:spcBef>
          <a:spcPts val="500"/>
        </a:spcBef>
        <a:buClr>
          <a:schemeClr val="accent2"/>
        </a:buClr>
        <a:buSzPct val="75000"/>
        <a:buFont typeface="Wingdings" panose="05000000000000000000" pitchFamily="2" charset="2"/>
        <a:buChar char="l"/>
        <a:defRPr kumimoji="0" sz="20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3pPr>
      <a:lvl4pPr marL="1371600" indent="-228600" algn="l" rtl="0" eaLnBrk="1" latinLnBrk="1" hangingPunct="1">
        <a:spcBef>
          <a:spcPts val="400"/>
        </a:spcBef>
        <a:buClr>
          <a:schemeClr val="accent3"/>
        </a:buClr>
        <a:buSzPct val="75000"/>
        <a:buFont typeface="Wingdings" panose="05000000000000000000" pitchFamily="2" charset="2"/>
        <a:buChar char="l"/>
        <a:defRPr kumimoji="0" sz="20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4pPr>
      <a:lvl5pPr marL="1828800" indent="-228600" algn="l" rtl="0" eaLnBrk="1" latinLnBrk="1" hangingPunct="1">
        <a:spcBef>
          <a:spcPts val="400"/>
        </a:spcBef>
        <a:buClr>
          <a:schemeClr val="accent4"/>
        </a:buClr>
        <a:buSzPct val="65000"/>
        <a:buFont typeface="Wingdings" panose="05000000000000000000" pitchFamily="2" charset="2"/>
        <a:buChar char="l"/>
        <a:defRPr kumimoji="0" sz="20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5pPr>
      <a:lvl6pPr marL="2103120" indent="-228600" algn="l" rtl="0" eaLnBrk="1" latinLnBrk="1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1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1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1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6B8A08-3916-4E1A-926B-9DB33C65D7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제 </a:t>
            </a:r>
            <a:r>
              <a:rPr lang="en-US" altLang="ko-KR" dirty="0"/>
              <a:t>11</a:t>
            </a:r>
            <a:r>
              <a:rPr lang="ko-KR" altLang="en-US" dirty="0"/>
              <a:t>장  </a:t>
            </a:r>
            <a:r>
              <a:rPr lang="ko-KR" altLang="en-US" dirty="0" smtClean="0"/>
              <a:t>포인터 실습 </a:t>
            </a:r>
            <a:r>
              <a:rPr lang="en-US" altLang="ko-KR" dirty="0" smtClean="0"/>
              <a:t>part2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6227B60-13C7-40ED-AD49-983CA3E023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FC07BA8-F121-45C7-B942-1436281A84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663" r="54355" b="24510"/>
          <a:stretch/>
        </p:blipFill>
        <p:spPr>
          <a:xfrm>
            <a:off x="2454612" y="1682024"/>
            <a:ext cx="3509682" cy="3148420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4A04F333-F7F3-4D37-A588-44F5853268D2}"/>
              </a:ext>
            </a:extLst>
          </p:cNvPr>
          <p:cNvSpPr txBox="1">
            <a:spLocks/>
          </p:cNvSpPr>
          <p:nvPr/>
        </p:nvSpPr>
        <p:spPr>
          <a:xfrm>
            <a:off x="1853453" y="813586"/>
            <a:ext cx="4932829" cy="685801"/>
          </a:xfrm>
          <a:prstGeom prst="rect">
            <a:avLst/>
          </a:prstGeom>
          <a:ln>
            <a:noFill/>
          </a:ln>
        </p:spPr>
        <p:txBody>
          <a:bodyPr vert="horz" anchor="b">
            <a:normAutofit fontScale="92500" lnSpcReduction="10000"/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44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ko-KR" dirty="0">
                <a:solidFill>
                  <a:srgbClr val="FFFF00"/>
                </a:solidFill>
              </a:rPr>
              <a:t>C</a:t>
            </a:r>
            <a:r>
              <a:rPr lang="ko-KR" altLang="en-US" dirty="0">
                <a:solidFill>
                  <a:srgbClr val="FFFF00"/>
                </a:solidFill>
              </a:rPr>
              <a:t> 언어 </a:t>
            </a:r>
            <a:r>
              <a:rPr lang="en-US" altLang="ko-KR" smtClean="0">
                <a:solidFill>
                  <a:srgbClr val="FFFF00"/>
                </a:solidFill>
              </a:rPr>
              <a:t>Express</a:t>
            </a:r>
            <a:endParaRPr lang="ko-KR" altLang="en-US" dirty="0">
              <a:solidFill>
                <a:srgbClr val="FFFF00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7D07D-27AE-43E0-936C-66ED99367A78}" type="slidenum">
              <a:rPr lang="en-US" altLang="ko-KR" smtClean="0"/>
              <a:pPr/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89899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Lab 1: </a:t>
            </a:r>
            <a:r>
              <a:rPr lang="ko-KR" altLang="en-US" b="1" dirty="0"/>
              <a:t>자율 주행 자동차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자율</a:t>
            </a:r>
            <a:r>
              <a:rPr lang="en-US" altLang="ko-KR" dirty="0"/>
              <a:t> </a:t>
            </a:r>
            <a:r>
              <a:rPr lang="ko-KR" altLang="en-US" dirty="0"/>
              <a:t>주행 자동차에서 </a:t>
            </a:r>
            <a:r>
              <a:rPr lang="en-US" altLang="ko-KR" dirty="0" err="1"/>
              <a:t>getSensorData</a:t>
            </a:r>
            <a:r>
              <a:rPr lang="en-US" altLang="ko-KR" dirty="0"/>
              <a:t>() </a:t>
            </a:r>
            <a:r>
              <a:rPr lang="ko-KR" altLang="en-US" dirty="0"/>
              <a:t>함수를 호출하여  </a:t>
            </a:r>
            <a:r>
              <a:rPr lang="en-US" altLang="ko-KR" dirty="0"/>
              <a:t>3</a:t>
            </a:r>
            <a:r>
              <a:rPr lang="ko-KR" altLang="en-US" dirty="0"/>
              <a:t>개의 </a:t>
            </a:r>
            <a:r>
              <a:rPr lang="en-US" altLang="ko-KR" dirty="0"/>
              <a:t>double</a:t>
            </a:r>
            <a:r>
              <a:rPr lang="ko-KR" altLang="en-US" dirty="0"/>
              <a:t>형 데이터를 받아보자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373" y="2780928"/>
            <a:ext cx="3114675" cy="2495550"/>
          </a:xfrm>
          <a:prstGeom prst="rect">
            <a:avLst/>
          </a:prstGeom>
        </p:spPr>
      </p:pic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9E9B1A4F-6369-435A-B900-24CAE6BC5F05}"/>
              </a:ext>
            </a:extLst>
          </p:cNvPr>
          <p:cNvGrpSpPr/>
          <p:nvPr/>
        </p:nvGrpSpPr>
        <p:grpSpPr>
          <a:xfrm>
            <a:off x="947884" y="3225836"/>
            <a:ext cx="4368254" cy="2014488"/>
            <a:chOff x="6073319" y="793805"/>
            <a:chExt cx="3663880" cy="1354152"/>
          </a:xfrm>
        </p:grpSpPr>
        <p:pic>
          <p:nvPicPr>
            <p:cNvPr id="168" name="그림 167">
              <a:extLst>
                <a:ext uri="{FF2B5EF4-FFF2-40B4-BE49-F238E27FC236}">
                  <a16:creationId xmlns:a16="http://schemas.microsoft.com/office/drawing/2014/main" id="{19F573C2-8568-4F9A-8B70-06C283F4A2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32366" y="1797897"/>
              <a:ext cx="745785" cy="350060"/>
            </a:xfrm>
            <a:prstGeom prst="rect">
              <a:avLst/>
            </a:prstGeom>
          </p:spPr>
        </p:pic>
        <p:sp>
          <p:nvSpPr>
            <p:cNvPr id="169" name="직사각형 168">
              <a:extLst>
                <a:ext uri="{FF2B5EF4-FFF2-40B4-BE49-F238E27FC236}">
                  <a16:creationId xmlns:a16="http://schemas.microsoft.com/office/drawing/2014/main" id="{2E8EB55C-786B-4F4F-AA88-365383313DCE}"/>
                </a:ext>
              </a:extLst>
            </p:cNvPr>
            <p:cNvSpPr/>
            <p:nvPr/>
          </p:nvSpPr>
          <p:spPr>
            <a:xfrm>
              <a:off x="6073319" y="793805"/>
              <a:ext cx="3663880" cy="1123893"/>
            </a:xfrm>
            <a:prstGeom prst="rect">
              <a:avLst/>
            </a:prstGeom>
            <a:solidFill>
              <a:srgbClr val="1F6EA7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6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왼쪽 </a:t>
              </a:r>
              <a:r>
                <a:rPr lang="ko-KR" altLang="en-US" sz="1600" dirty="0" err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센서과</a:t>
              </a:r>
              <a:r>
                <a:rPr lang="ko-KR" altLang="en-US" sz="16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 장애물과의 거리</a:t>
              </a:r>
              <a:r>
                <a:rPr lang="en-US" altLang="ko-KR" sz="16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: 41.000000</a:t>
              </a:r>
            </a:p>
            <a:p>
              <a:r>
                <a:rPr lang="ko-KR" altLang="en-US" sz="16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중간 </a:t>
              </a:r>
              <a:r>
                <a:rPr lang="ko-KR" altLang="en-US" sz="1600" dirty="0" err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센서과</a:t>
              </a:r>
              <a:r>
                <a:rPr lang="ko-KR" altLang="en-US" sz="16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 장애물과의 거리</a:t>
              </a:r>
              <a:r>
                <a:rPr lang="en-US" altLang="ko-KR" sz="16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: 67.000000</a:t>
              </a:r>
            </a:p>
            <a:p>
              <a:r>
                <a:rPr lang="ko-KR" altLang="en-US" sz="16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오른쪽 </a:t>
              </a:r>
              <a:r>
                <a:rPr lang="ko-KR" altLang="en-US" sz="1600" dirty="0" err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센서과</a:t>
              </a:r>
              <a:r>
                <a:rPr lang="ko-KR" altLang="en-US" sz="16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 장애물과의 거리</a:t>
              </a:r>
              <a:r>
                <a:rPr lang="en-US" altLang="ko-KR" sz="16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: 34.000000</a:t>
              </a:r>
              <a:endParaRPr lang="ko-KR" altLang="en-US" sz="1600" dirty="0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8547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Rectangle 3"/>
          <p:cNvSpPr>
            <a:spLocks noChangeArrowheads="1"/>
          </p:cNvSpPr>
          <p:nvPr/>
        </p:nvSpPr>
        <p:spPr bwMode="auto">
          <a:xfrm>
            <a:off x="899592" y="836712"/>
            <a:ext cx="7777162" cy="5544615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altLang="ko-KR" sz="1600" dirty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#include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&lt;</a:t>
            </a:r>
            <a:r>
              <a:rPr lang="en-US" altLang="ko-KR" sz="1600" dirty="0" err="1">
                <a:solidFill>
                  <a:srgbClr val="A31515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stdio.h</a:t>
            </a:r>
            <a:r>
              <a:rPr lang="en-US" altLang="ko-KR" sz="1600" dirty="0">
                <a:solidFill>
                  <a:srgbClr val="A31515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&gt;</a:t>
            </a:r>
            <a:endParaRPr lang="en-US" altLang="ko-KR" sz="1600" dirty="0">
              <a:solidFill>
                <a:srgbClr val="000000"/>
              </a:solidFill>
              <a:latin typeface="Trebuchet MS" panose="020B0603020202020204" pitchFamily="34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#include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&lt;</a:t>
            </a:r>
            <a:r>
              <a:rPr lang="en-US" altLang="ko-KR" sz="1600" dirty="0" err="1">
                <a:solidFill>
                  <a:srgbClr val="A31515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stdlib.h</a:t>
            </a:r>
            <a:r>
              <a:rPr lang="en-US" altLang="ko-KR" sz="1600" dirty="0">
                <a:solidFill>
                  <a:srgbClr val="A31515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&gt;</a:t>
            </a:r>
            <a:endParaRPr lang="en-US" altLang="ko-KR" sz="1600" dirty="0">
              <a:solidFill>
                <a:srgbClr val="000000"/>
              </a:solidFill>
              <a:latin typeface="Trebuchet MS" panose="020B0603020202020204" pitchFamily="34" charset="0"/>
              <a:ea typeface="돋움체" panose="020B0609000101010101" pitchFamily="49" charset="-127"/>
            </a:endParaRPr>
          </a:p>
          <a:p>
            <a:endParaRPr lang="ko-KR" altLang="en-US" sz="1600" dirty="0">
              <a:solidFill>
                <a:srgbClr val="000000"/>
              </a:solidFill>
              <a:latin typeface="Trebuchet MS" panose="020B0603020202020204" pitchFamily="34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8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// 0</a:t>
            </a:r>
            <a:r>
              <a:rPr lang="ko-KR" altLang="en-US" sz="1600" dirty="0">
                <a:solidFill>
                  <a:srgbClr val="008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부터 </a:t>
            </a:r>
            <a:r>
              <a:rPr lang="en-US" altLang="ko-KR" sz="1600" dirty="0">
                <a:solidFill>
                  <a:srgbClr val="008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99</a:t>
            </a:r>
            <a:r>
              <a:rPr lang="ko-KR" altLang="en-US" sz="1600" dirty="0">
                <a:solidFill>
                  <a:srgbClr val="008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까지의 난수</a:t>
            </a:r>
            <a:r>
              <a:rPr lang="en-US" altLang="ko-KR" sz="1600" dirty="0">
                <a:solidFill>
                  <a:srgbClr val="008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(</a:t>
            </a:r>
            <a:r>
              <a:rPr lang="ko-KR" altLang="en-US" sz="1600" dirty="0">
                <a:solidFill>
                  <a:srgbClr val="008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실수형태</a:t>
            </a:r>
            <a:r>
              <a:rPr lang="en-US" altLang="ko-KR" sz="1600" dirty="0">
                <a:solidFill>
                  <a:srgbClr val="008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)</a:t>
            </a:r>
            <a:r>
              <a:rPr lang="ko-KR" altLang="en-US" sz="1600" dirty="0">
                <a:solidFill>
                  <a:srgbClr val="008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를 발생하여 크기가 </a:t>
            </a:r>
            <a:r>
              <a:rPr lang="en-US" altLang="ko-KR" sz="1600" dirty="0">
                <a:solidFill>
                  <a:srgbClr val="008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3</a:t>
            </a:r>
            <a:r>
              <a:rPr lang="ko-KR" altLang="en-US" sz="1600" dirty="0">
                <a:solidFill>
                  <a:srgbClr val="008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인 배열 </a:t>
            </a:r>
            <a:r>
              <a:rPr lang="en-US" altLang="ko-KR" sz="1600" dirty="0">
                <a:solidFill>
                  <a:srgbClr val="008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p</a:t>
            </a:r>
            <a:r>
              <a:rPr lang="ko-KR" altLang="en-US" sz="1600" dirty="0">
                <a:solidFill>
                  <a:srgbClr val="008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에 저장한다</a:t>
            </a:r>
            <a:r>
              <a:rPr lang="en-US" altLang="ko-KR" sz="1600" dirty="0">
                <a:solidFill>
                  <a:srgbClr val="008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. </a:t>
            </a:r>
            <a:endParaRPr lang="ko-KR" altLang="en-US" sz="1600" dirty="0">
              <a:solidFill>
                <a:srgbClr val="000000"/>
              </a:solidFill>
              <a:latin typeface="Trebuchet MS" panose="020B0603020202020204" pitchFamily="34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getSensorData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(</a:t>
            </a:r>
            <a:r>
              <a:rPr lang="en-US" altLang="ko-KR" sz="1600" dirty="0">
                <a:solidFill>
                  <a:srgbClr val="0000FF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double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* </a:t>
            </a:r>
            <a:r>
              <a:rPr lang="en-US" altLang="ko-KR" sz="1600" dirty="0" smtClean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p, n</a:t>
            </a:r>
            <a:r>
              <a:rPr lang="en-US" altLang="ko-KR" sz="1600" dirty="0" smtClean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)</a:t>
            </a:r>
            <a:endParaRPr lang="en-US" altLang="ko-KR" sz="1600" dirty="0">
              <a:solidFill>
                <a:srgbClr val="000000"/>
              </a:solidFill>
              <a:latin typeface="Trebuchet MS" panose="020B0603020202020204" pitchFamily="34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{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8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// </a:t>
            </a:r>
            <a:r>
              <a:rPr lang="ko-KR" altLang="en-US" sz="1600" dirty="0">
                <a:solidFill>
                  <a:srgbClr val="008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여기를 작성한다</a:t>
            </a:r>
            <a:r>
              <a:rPr lang="en-US" altLang="ko-KR" sz="1600" dirty="0">
                <a:solidFill>
                  <a:srgbClr val="008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. </a:t>
            </a:r>
            <a:endParaRPr lang="en-US" altLang="ko-KR" sz="1600" dirty="0" smtClean="0">
              <a:solidFill>
                <a:srgbClr val="008000"/>
              </a:solidFill>
              <a:latin typeface="Trebuchet MS" panose="020B0603020202020204" pitchFamily="34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smtClean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 </a:t>
            </a:r>
            <a:r>
              <a:rPr lang="en-US" altLang="ko-KR" sz="1600" dirty="0" smtClean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…  //</a:t>
            </a:r>
            <a:r>
              <a:rPr lang="ko-KR" altLang="en-US" sz="1600" dirty="0" err="1" smtClean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반복문</a:t>
            </a:r>
            <a:r>
              <a:rPr lang="ko-KR" altLang="en-US" sz="1600" dirty="0" smtClean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사용</a:t>
            </a:r>
            <a:r>
              <a:rPr lang="en-US" altLang="ko-KR" sz="1600" dirty="0" smtClean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, </a:t>
            </a:r>
            <a:r>
              <a:rPr lang="ko-KR" altLang="en-US" sz="1600" dirty="0" smtClean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배열 인덱스 방식</a:t>
            </a:r>
            <a:r>
              <a:rPr lang="en-US" altLang="ko-KR" sz="1600" dirty="0" smtClean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, </a:t>
            </a:r>
            <a:r>
              <a:rPr lang="ko-KR" altLang="en-US" sz="1600" dirty="0" smtClean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포인터 방식</a:t>
            </a:r>
            <a:r>
              <a:rPr lang="en-US" altLang="ko-KR" sz="1600" dirty="0" smtClean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(++, +) </a:t>
            </a:r>
            <a:r>
              <a:rPr lang="ko-KR" altLang="en-US" sz="1600" dirty="0" smtClean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세가지 방식으로 구현</a:t>
            </a:r>
            <a:endParaRPr lang="en-US" altLang="ko-KR" sz="1600" dirty="0" smtClean="0">
              <a:solidFill>
                <a:srgbClr val="000000"/>
              </a:solidFill>
              <a:latin typeface="Trebuchet MS" panose="020B0603020202020204" pitchFamily="34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smtClean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  ….</a:t>
            </a:r>
            <a:endParaRPr lang="ko-KR" altLang="en-US" sz="1600" dirty="0">
              <a:solidFill>
                <a:srgbClr val="000000"/>
              </a:solidFill>
              <a:latin typeface="Trebuchet MS" panose="020B0603020202020204" pitchFamily="34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   return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}</a:t>
            </a:r>
          </a:p>
          <a:p>
            <a:endParaRPr lang="ko-KR" altLang="en-US" sz="1600" dirty="0">
              <a:solidFill>
                <a:srgbClr val="000000"/>
              </a:solidFill>
              <a:latin typeface="Trebuchet MS" panose="020B0603020202020204" pitchFamily="34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main(</a:t>
            </a:r>
            <a:r>
              <a:rPr lang="en-US" altLang="ko-KR" sz="1600" dirty="0">
                <a:solidFill>
                  <a:srgbClr val="0000FF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double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sensorData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[3];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   -&gt;</a:t>
            </a:r>
            <a:r>
              <a:rPr lang="ko-KR" altLang="en-US" sz="1600" dirty="0" smtClean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사용자로 부터 </a:t>
            </a:r>
            <a:r>
              <a:rPr lang="ko-KR" altLang="en-US" sz="1600" dirty="0" err="1" smtClean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입력받아</a:t>
            </a:r>
            <a:r>
              <a:rPr lang="ko-KR" altLang="en-US" sz="1600" dirty="0" smtClean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smtClean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‘y’</a:t>
            </a:r>
            <a:r>
              <a:rPr lang="ko-KR" altLang="en-US" sz="1600" dirty="0" smtClean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이면 아래 </a:t>
            </a:r>
            <a:r>
              <a:rPr lang="en-US" altLang="ko-KR" sz="1600" dirty="0" smtClean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‘-&gt; ’</a:t>
            </a:r>
            <a:r>
              <a:rPr lang="ko-KR" altLang="en-US" sz="1600" dirty="0" smtClean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계속 반복</a:t>
            </a:r>
            <a:r>
              <a:rPr lang="en-US" altLang="ko-KR" sz="1600" dirty="0" smtClean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, </a:t>
            </a:r>
            <a:r>
              <a:rPr lang="ko-KR" altLang="en-US" sz="1600" dirty="0" smtClean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아니면 종료</a:t>
            </a:r>
            <a:endParaRPr lang="en-US" altLang="ko-KR" sz="1600" dirty="0" smtClean="0">
              <a:solidFill>
                <a:srgbClr val="000000"/>
              </a:solidFill>
              <a:latin typeface="Trebuchet MS" panose="020B0603020202020204" pitchFamily="34" charset="0"/>
              <a:ea typeface="돋움체" panose="020B0609000101010101" pitchFamily="49" charset="-127"/>
            </a:endParaRPr>
          </a:p>
          <a:p>
            <a:r>
              <a:rPr lang="en-US" altLang="ko-KR" sz="1600" dirty="0" smtClean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   -&gt;</a:t>
            </a:r>
            <a:r>
              <a:rPr lang="en-US" altLang="ko-KR" sz="1600" dirty="0" err="1" smtClean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getSensorData</a:t>
            </a:r>
            <a:r>
              <a:rPr lang="en-US" altLang="ko-KR" sz="1600" dirty="0" smtClean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(</a:t>
            </a:r>
            <a:r>
              <a:rPr lang="en-US" altLang="ko-KR" sz="1600" dirty="0" err="1" smtClean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sensorData</a:t>
            </a:r>
            <a:r>
              <a:rPr lang="en-US" altLang="ko-KR" sz="1600" dirty="0" smtClean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, 3);</a:t>
            </a:r>
            <a:endParaRPr lang="en-US" altLang="ko-KR" sz="1600" dirty="0">
              <a:solidFill>
                <a:srgbClr val="000000"/>
              </a:solidFill>
              <a:latin typeface="Trebuchet MS" panose="020B0603020202020204" pitchFamily="34" charset="0"/>
              <a:ea typeface="돋움체" panose="020B0609000101010101" pitchFamily="49" charset="-127"/>
            </a:endParaRPr>
          </a:p>
          <a:p>
            <a:r>
              <a:rPr lang="ko-KR" altLang="en-US" sz="1600" dirty="0" smtClean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smtClean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-&gt;</a:t>
            </a:r>
            <a:r>
              <a:rPr lang="en-US" altLang="ko-KR" sz="1600" dirty="0" err="1" smtClean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printf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(</a:t>
            </a:r>
            <a:r>
              <a:rPr lang="en-US" altLang="ko-KR" sz="1600" dirty="0">
                <a:solidFill>
                  <a:srgbClr val="A31515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"</a:t>
            </a:r>
            <a:r>
              <a:rPr lang="ko-KR" altLang="en-US" sz="1600" dirty="0">
                <a:solidFill>
                  <a:srgbClr val="A31515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왼쪽 센서와 장애물과의 거리</a:t>
            </a:r>
            <a:r>
              <a:rPr lang="en-US" altLang="ko-KR" sz="1600" dirty="0">
                <a:solidFill>
                  <a:srgbClr val="A31515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: %</a:t>
            </a:r>
            <a:r>
              <a:rPr lang="en-US" altLang="ko-KR" sz="1600" dirty="0" err="1">
                <a:solidFill>
                  <a:srgbClr val="A31515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lf</a:t>
            </a:r>
            <a:r>
              <a:rPr lang="en-US" altLang="ko-KR" sz="1600" dirty="0">
                <a:solidFill>
                  <a:srgbClr val="A31515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\n"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, </a:t>
            </a:r>
            <a:r>
              <a:rPr lang="en-US" altLang="ko-KR" sz="1600" dirty="0" err="1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sensorData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[0]);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smtClean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-&gt;</a:t>
            </a:r>
            <a:r>
              <a:rPr lang="en-US" altLang="ko-KR" sz="1600" dirty="0" err="1" smtClean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printf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(</a:t>
            </a:r>
            <a:r>
              <a:rPr lang="en-US" altLang="ko-KR" sz="1600" dirty="0">
                <a:solidFill>
                  <a:srgbClr val="A31515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"</a:t>
            </a:r>
            <a:r>
              <a:rPr lang="ko-KR" altLang="en-US" sz="1600" dirty="0">
                <a:solidFill>
                  <a:srgbClr val="A31515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중간 센서와 장애물과의 거리</a:t>
            </a:r>
            <a:r>
              <a:rPr lang="en-US" altLang="ko-KR" sz="1600" dirty="0">
                <a:solidFill>
                  <a:srgbClr val="A31515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: %</a:t>
            </a:r>
            <a:r>
              <a:rPr lang="en-US" altLang="ko-KR" sz="1600" dirty="0" err="1">
                <a:solidFill>
                  <a:srgbClr val="A31515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lf</a:t>
            </a:r>
            <a:r>
              <a:rPr lang="en-US" altLang="ko-KR" sz="1600" dirty="0">
                <a:solidFill>
                  <a:srgbClr val="A31515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\n"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, </a:t>
            </a:r>
            <a:r>
              <a:rPr lang="en-US" altLang="ko-KR" sz="1600" dirty="0" err="1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sensorData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[1]);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smtClean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-&gt;</a:t>
            </a:r>
            <a:r>
              <a:rPr lang="en-US" altLang="ko-KR" sz="1600" dirty="0" err="1" smtClean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printf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(</a:t>
            </a:r>
            <a:r>
              <a:rPr lang="en-US" altLang="ko-KR" sz="1600" dirty="0">
                <a:solidFill>
                  <a:srgbClr val="A31515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"</a:t>
            </a:r>
            <a:r>
              <a:rPr lang="ko-KR" altLang="en-US" sz="1600" dirty="0">
                <a:solidFill>
                  <a:srgbClr val="A31515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오른쪽 센서와 장애물과의 거리</a:t>
            </a:r>
            <a:r>
              <a:rPr lang="en-US" altLang="ko-KR" sz="1600" dirty="0">
                <a:solidFill>
                  <a:srgbClr val="A31515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: %</a:t>
            </a:r>
            <a:r>
              <a:rPr lang="en-US" altLang="ko-KR" sz="1600" dirty="0" err="1">
                <a:solidFill>
                  <a:srgbClr val="A31515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lf</a:t>
            </a:r>
            <a:r>
              <a:rPr lang="en-US" altLang="ko-KR" sz="1600" dirty="0">
                <a:solidFill>
                  <a:srgbClr val="A31515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\n"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, </a:t>
            </a:r>
            <a:r>
              <a:rPr lang="en-US" altLang="ko-KR" sz="1600" dirty="0" err="1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sensorData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[2]);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return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0;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}</a:t>
            </a:r>
            <a:endParaRPr lang="en-US" altLang="ko-KR" sz="1400" kern="0" dirty="0">
              <a:latin typeface="Trebuchet MS" panose="020B0603020202020204" pitchFamily="34" charset="0"/>
            </a:endParaRP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0" y="30257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15365" name="Rectangle 7"/>
          <p:cNvSpPr>
            <a:spLocks noChangeArrowheads="1"/>
          </p:cNvSpPr>
          <p:nvPr/>
        </p:nvSpPr>
        <p:spPr bwMode="auto">
          <a:xfrm>
            <a:off x="0" y="3127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343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 smtClean="0"/>
              <a:t>Lab 2: 2</a:t>
            </a:r>
            <a:r>
              <a:rPr lang="ko-KR" altLang="en-US" sz="3600" dirty="0" smtClean="0"/>
              <a:t>차 방정식의 </a:t>
            </a:r>
            <a:r>
              <a:rPr lang="en-US" altLang="ko-KR" sz="3600" dirty="0" smtClean="0"/>
              <a:t>2</a:t>
            </a:r>
            <a:r>
              <a:rPr lang="ko-KR" altLang="en-US" sz="3600" dirty="0" smtClean="0"/>
              <a:t>개의 근을 구하는 </a:t>
            </a:r>
            <a:r>
              <a:rPr lang="ko-KR" altLang="en-US" sz="3600" dirty="0" smtClean="0"/>
              <a:t>프로그램</a:t>
            </a:r>
            <a:endParaRPr lang="ko-KR" altLang="en-US" sz="3600" dirty="0"/>
          </a:p>
        </p:txBody>
      </p:sp>
      <p:sp>
        <p:nvSpPr>
          <p:cNvPr id="122886" name="Rectangle 6"/>
          <p:cNvSpPr>
            <a:spLocks noChangeArrowheads="1"/>
          </p:cNvSpPr>
          <p:nvPr/>
        </p:nvSpPr>
        <p:spPr bwMode="auto">
          <a:xfrm>
            <a:off x="0" y="31511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670E792F-A479-4EE8-BED3-C37A9DF29A65}" type="slidenum">
              <a:rPr lang="en-US" altLang="ko-KR" smtClean="0"/>
              <a:pPr/>
              <a:t>4</a:t>
            </a:fld>
            <a:endParaRPr lang="en-US" altLang="ko-KR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6131" y="3300664"/>
            <a:ext cx="2697041" cy="9410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3835" y="1516698"/>
            <a:ext cx="812933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차 방정식의 근을 계산하는 함수를 작성하고 이 함수를 호출하여서 </a:t>
            </a:r>
            <a:r>
              <a:rPr lang="en-US" altLang="ko-KR" dirty="0"/>
              <a:t>2</a:t>
            </a:r>
            <a:r>
              <a:rPr lang="ko-KR" altLang="en-US" dirty="0"/>
              <a:t>차 방정식의 </a:t>
            </a:r>
            <a:r>
              <a:rPr lang="ko-KR" altLang="en-US" dirty="0" smtClean="0"/>
              <a:t>근을 출력하는 </a:t>
            </a:r>
            <a:r>
              <a:rPr lang="ko-KR" altLang="en-US" dirty="0"/>
              <a:t>프로그램을 작성하여 보자</a:t>
            </a:r>
            <a:r>
              <a:rPr lang="en-US" altLang="ko-KR" dirty="0"/>
              <a:t>. </a:t>
            </a:r>
            <a:r>
              <a:rPr lang="ko-KR" altLang="en-US" dirty="0" smtClean="0"/>
              <a:t>두개의 </a:t>
            </a:r>
            <a:r>
              <a:rPr lang="ko-KR" altLang="en-US" dirty="0"/>
              <a:t>근을 모두 포인터를 </a:t>
            </a:r>
            <a:r>
              <a:rPr lang="ko-KR" altLang="en-US" dirty="0" smtClean="0"/>
              <a:t>이용하여서 반환하도록 </a:t>
            </a:r>
            <a:r>
              <a:rPr lang="ko-KR" altLang="en-US" dirty="0"/>
              <a:t>한다</a:t>
            </a:r>
            <a:r>
              <a:rPr lang="en-US" altLang="ko-KR" dirty="0" smtClean="0"/>
              <a:t>. </a:t>
            </a:r>
          </a:p>
          <a:p>
            <a:r>
              <a:rPr lang="en-US" altLang="ko-KR" dirty="0" smtClean="0"/>
              <a:t>main() </a:t>
            </a:r>
            <a:r>
              <a:rPr lang="ko-KR" altLang="en-US" dirty="0" smtClean="0"/>
              <a:t>함수 작성 후 호출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fr-FR" altLang="ko-KR" dirty="0" smtClean="0"/>
              <a:t>void </a:t>
            </a:r>
            <a:r>
              <a:rPr lang="fr-FR" altLang="ko-KR" dirty="0"/>
              <a:t>quadratic (int a, int b, int c, double* xplus, double* xminus</a:t>
            </a:r>
            <a:r>
              <a:rPr lang="fr-FR" altLang="ko-KR" dirty="0" smtClean="0"/>
              <a:t>);</a:t>
            </a:r>
          </a:p>
          <a:p>
            <a:endParaRPr lang="fr-FR" altLang="ko-KR" dirty="0"/>
          </a:p>
          <a:p>
            <a:endParaRPr lang="fr-FR" altLang="ko-KR" dirty="0" smtClean="0"/>
          </a:p>
          <a:p>
            <a:r>
              <a:rPr lang="ko-KR" altLang="en-US" dirty="0" smtClean="0"/>
              <a:t>힌트</a:t>
            </a:r>
            <a:r>
              <a:rPr lang="en-US" altLang="ko-KR" dirty="0" smtClean="0"/>
              <a:t>: </a:t>
            </a:r>
            <a:r>
              <a:rPr lang="en-US" altLang="ko-KR" dirty="0"/>
              <a:t>#include &lt;</a:t>
            </a:r>
            <a:r>
              <a:rPr lang="en-US" altLang="ko-KR" dirty="0" err="1"/>
              <a:t>math.h</a:t>
            </a:r>
            <a:r>
              <a:rPr lang="en-US" altLang="ko-KR" dirty="0" smtClean="0"/>
              <a:t>&gt;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     </a:t>
            </a:r>
            <a:r>
              <a:rPr lang="en-US" altLang="ko-KR" dirty="0" err="1" smtClean="0"/>
              <a:t>sqrt</a:t>
            </a:r>
            <a:r>
              <a:rPr lang="en-US" altLang="ko-KR" dirty="0" smtClean="0"/>
              <a:t>()</a:t>
            </a:r>
            <a:r>
              <a:rPr lang="ko-KR" altLang="en-US" dirty="0" smtClean="0"/>
              <a:t>함수 사용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         a =10, b=40, c=30</a:t>
            </a:r>
            <a:r>
              <a:rPr lang="ko-KR" altLang="en-US" dirty="0" smtClean="0"/>
              <a:t>이면 두개의 근은 </a:t>
            </a:r>
            <a:r>
              <a:rPr lang="en-US" altLang="ko-KR" dirty="0" smtClean="0"/>
              <a:t>-1, -3</a:t>
            </a:r>
            <a:endParaRPr lang="fr-FR" altLang="ko-KR" dirty="0" smtClean="0"/>
          </a:p>
          <a:p>
            <a:endParaRPr lang="fr-FR" altLang="ko-KR" dirty="0"/>
          </a:p>
          <a:p>
            <a:endParaRPr lang="fr-FR" altLang="ko-KR" dirty="0" smtClean="0"/>
          </a:p>
          <a:p>
            <a:endParaRPr lang="fr-FR" altLang="ko-KR" dirty="0"/>
          </a:p>
          <a:p>
            <a:endParaRPr lang="fr-FR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220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가을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가을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가을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6633</TotalTime>
  <Words>291</Words>
  <Application>Microsoft Office PowerPoint</Application>
  <PresentationFormat>화면 슬라이드 쇼(4:3)</PresentationFormat>
  <Paragraphs>45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2" baseType="lpstr">
      <vt:lpstr>HY얕은샘물M</vt:lpstr>
      <vt:lpstr>굴림</vt:lpstr>
      <vt:lpstr>돋움체</vt:lpstr>
      <vt:lpstr>Arial</vt:lpstr>
      <vt:lpstr>Trebuchet MS</vt:lpstr>
      <vt:lpstr>Tw Cen MT</vt:lpstr>
      <vt:lpstr>Wingdings</vt:lpstr>
      <vt:lpstr>가을</vt:lpstr>
      <vt:lpstr>제 11장  포인터 실습 part2</vt:lpstr>
      <vt:lpstr>Lab 1: 자율 주행 자동차</vt:lpstr>
      <vt:lpstr>PowerPoint 프레젠테이션</vt:lpstr>
      <vt:lpstr>Lab 2: 2차 방정식의 2개의 근을 구하는 프로그램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쉽게 풀어쓴 C 프로그래밍</dc:title>
  <dc:creator>천인국</dc:creator>
  <cp:lastModifiedBy>jdonam</cp:lastModifiedBy>
  <cp:revision>772</cp:revision>
  <dcterms:created xsi:type="dcterms:W3CDTF">2007-06-29T06:43:39Z</dcterms:created>
  <dcterms:modified xsi:type="dcterms:W3CDTF">2026-04-30T00:31:16Z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TC010187211033</vt:lpwstr>
  </property>
</Properties>
</file>