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0" r:id="rId1"/>
  </p:sldMasterIdLst>
  <p:notesMasterIdLst>
    <p:notesMasterId r:id="rId9"/>
  </p:notesMasterIdLst>
  <p:handoutMasterIdLst>
    <p:handoutMasterId r:id="rId10"/>
  </p:handoutMasterIdLst>
  <p:sldIdLst>
    <p:sldId id="732" r:id="rId2"/>
    <p:sldId id="785" r:id="rId3"/>
    <p:sldId id="786" r:id="rId4"/>
    <p:sldId id="787" r:id="rId5"/>
    <p:sldId id="775" r:id="rId6"/>
    <p:sldId id="781" r:id="rId7"/>
    <p:sldId id="788" r:id="rId8"/>
  </p:sldIdLst>
  <p:sldSz cx="9144000" cy="6858000" type="screen4x3"/>
  <p:notesSz cx="6934200" cy="9220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5pPr>
    <a:lvl6pPr marL="2286000" algn="l" defTabSz="914400" rtl="0" eaLnBrk="1" latinLnBrk="1" hangingPunct="1">
      <a:defRPr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6pPr>
    <a:lvl7pPr marL="2743200" algn="l" defTabSz="914400" rtl="0" eaLnBrk="1" latinLnBrk="1" hangingPunct="1">
      <a:defRPr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7pPr>
    <a:lvl8pPr marL="3200400" algn="l" defTabSz="914400" rtl="0" eaLnBrk="1" latinLnBrk="1" hangingPunct="1">
      <a:defRPr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8pPr>
    <a:lvl9pPr marL="3657600" algn="l" defTabSz="914400" rtl="0" eaLnBrk="1" latinLnBrk="1" hangingPunct="1">
      <a:defRPr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04">
          <p15:clr>
            <a:srgbClr val="A4A3A4"/>
          </p15:clr>
        </p15:guide>
        <p15:guide id="2" pos="218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  <a:srgbClr val="CEE9D4"/>
    <a:srgbClr val="B2ECAE"/>
    <a:srgbClr val="E7F9FF"/>
    <a:srgbClr val="BAE383"/>
    <a:srgbClr val="3FCDFF"/>
    <a:srgbClr val="FF9999"/>
    <a:srgbClr val="D8BFEB"/>
    <a:srgbClr val="7DDDFF"/>
    <a:srgbClr val="C9F1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055" autoAdjust="0"/>
    <p:restoredTop sz="93514" autoAdjust="0"/>
  </p:normalViewPr>
  <p:slideViewPr>
    <p:cSldViewPr snapToGrid="0">
      <p:cViewPr varScale="1">
        <p:scale>
          <a:sx n="151" d="100"/>
          <a:sy n="151" d="100"/>
        </p:scale>
        <p:origin x="1932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103" d="100"/>
          <a:sy n="103" d="100"/>
        </p:scale>
        <p:origin x="-2886" y="-96"/>
      </p:cViewPr>
      <p:guideLst>
        <p:guide orient="horz" pos="2904"/>
        <p:guide pos="218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05138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806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27475" y="0"/>
            <a:ext cx="3005138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806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758238"/>
            <a:ext cx="3005138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806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27475" y="8758238"/>
            <a:ext cx="3005138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ea typeface="굴림" pitchFamily="50" charset="-127"/>
              </a:defRPr>
            </a:lvl1pPr>
          </a:lstStyle>
          <a:p>
            <a:pPr>
              <a:defRPr/>
            </a:pPr>
            <a:fld id="{BC3AD47C-2D12-4A41-A7F2-E1452ED4A26A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390112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05138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309" tIns="46154" rIns="92309" bIns="46154" numCol="1" anchor="t" anchorCtr="0" compatLnSpc="1">
            <a:prstTxWarp prst="textNoShape">
              <a:avLst/>
            </a:prstTxWarp>
          </a:bodyPr>
          <a:lstStyle>
            <a:lvl1pPr defTabSz="922338" eaLnBrk="1" hangingPunct="1">
              <a:defRPr sz="1200"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27475" y="0"/>
            <a:ext cx="3005138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309" tIns="46154" rIns="92309" bIns="46154" numCol="1" anchor="t" anchorCtr="0" compatLnSpc="1">
            <a:prstTxWarp prst="textNoShape">
              <a:avLst/>
            </a:prstTxWarp>
          </a:bodyPr>
          <a:lstStyle>
            <a:lvl1pPr algn="r" defTabSz="922338" eaLnBrk="1" hangingPunct="1">
              <a:defRPr sz="1200"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99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62050" y="692150"/>
            <a:ext cx="4610100" cy="3457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55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309" tIns="46154" rIns="92309" bIns="4615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noProof="0"/>
              <a:t>Click to edit Master text styles</a:t>
            </a:r>
          </a:p>
          <a:p>
            <a:pPr lvl="1"/>
            <a:r>
              <a:rPr lang="en-US" altLang="ko-KR" noProof="0"/>
              <a:t>Second level</a:t>
            </a:r>
          </a:p>
          <a:p>
            <a:pPr lvl="2"/>
            <a:r>
              <a:rPr lang="en-US" altLang="ko-KR" noProof="0"/>
              <a:t>Third level</a:t>
            </a:r>
          </a:p>
          <a:p>
            <a:pPr lvl="3"/>
            <a:r>
              <a:rPr lang="en-US" altLang="ko-KR" noProof="0"/>
              <a:t>Fourth level</a:t>
            </a:r>
          </a:p>
          <a:p>
            <a:pPr lvl="4"/>
            <a:r>
              <a:rPr lang="en-US" altLang="ko-KR" noProof="0"/>
              <a:t>Fifth level</a:t>
            </a:r>
          </a:p>
        </p:txBody>
      </p:sp>
      <p:sp>
        <p:nvSpPr>
          <p:cNvPr id="655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758238"/>
            <a:ext cx="3005138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309" tIns="46154" rIns="92309" bIns="46154" numCol="1" anchor="b" anchorCtr="0" compatLnSpc="1">
            <a:prstTxWarp prst="textNoShape">
              <a:avLst/>
            </a:prstTxWarp>
          </a:bodyPr>
          <a:lstStyle>
            <a:lvl1pPr defTabSz="922338" eaLnBrk="1" hangingPunct="1">
              <a:defRPr sz="1200"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55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27475" y="8758238"/>
            <a:ext cx="3005138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309" tIns="46154" rIns="92309" bIns="46154" numCol="1" anchor="b" anchorCtr="0" compatLnSpc="1">
            <a:prstTxWarp prst="textNoShape">
              <a:avLst/>
            </a:prstTxWarp>
          </a:bodyPr>
          <a:lstStyle>
            <a:lvl1pPr algn="r" defTabSz="922338" eaLnBrk="1" hangingPunct="1">
              <a:defRPr sz="1200">
                <a:ea typeface="굴림" pitchFamily="50" charset="-127"/>
              </a:defRPr>
            </a:lvl1pPr>
          </a:lstStyle>
          <a:p>
            <a:pPr>
              <a:defRPr/>
            </a:pPr>
            <a:fld id="{E6D39435-B71D-43C9-9577-0712C7863292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9427036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직사각형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직사각형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제목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9" name="부제목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ko-KR" altLang="en-US"/>
              <a:t>클릭하여 마스터 부제목 스타일 편집</a:t>
            </a:r>
            <a:endParaRPr kumimoji="0" lang="en-US"/>
          </a:p>
        </p:txBody>
      </p:sp>
      <p:sp>
        <p:nvSpPr>
          <p:cNvPr id="28" name="날짜 개체 틀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31E58B3D-AF80-4B88-BC74-82D36DA8D1E2}" type="datetimeFigureOut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17" name="바닥글 개체 틀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29" name="슬라이드 번호 개체 틀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4F4BFB86-0F0F-428D-A07D-2B6212BEAD3C}" type="slidenum">
              <a:rPr lang="ko-KR" altLang="en-US" smtClean="0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896941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58B3D-AF80-4B88-BC74-82D36DA8D1E2}" type="datetimeFigureOut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2C226D5E-E55C-4B18-B237-C2860325C564}" type="slidenum">
              <a:rPr lang="ko-KR" altLang="en-US" smtClean="0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8" name="내용 개체 틀 7"/>
          <p:cNvSpPr>
            <a:spLocks noGrp="1"/>
          </p:cNvSpPr>
          <p:nvPr>
            <p:ph sz="quarter" idx="1" hasCustomPrompt="1"/>
          </p:nvPr>
        </p:nvSpPr>
        <p:spPr>
          <a:xfrm>
            <a:off x="612648" y="1600200"/>
            <a:ext cx="8153400" cy="4495800"/>
          </a:xfrm>
        </p:spPr>
        <p:txBody>
          <a:bodyPr/>
          <a:lstStyle>
            <a:lvl1pPr marL="320040" indent="-320040">
              <a:buSzPct val="100000"/>
              <a:buFont typeface="Wingdings" panose="05000000000000000000" pitchFamily="2" charset="2"/>
              <a:buChar char="l"/>
              <a:defRPr sz="200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1pPr>
            <a:lvl2pPr marL="640080" indent="-274320">
              <a:buFont typeface="Wingdings" panose="05000000000000000000" pitchFamily="2" charset="2"/>
              <a:buChar char="l"/>
              <a:defRPr sz="200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2pPr>
            <a:lvl3pPr marL="914400" indent="-228600">
              <a:buFont typeface="Wingdings" panose="05000000000000000000" pitchFamily="2" charset="2"/>
              <a:buChar char="l"/>
              <a:defRPr sz="200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3pPr>
            <a:lvl4pPr marL="1371600" indent="-228600">
              <a:buFont typeface="Wingdings" panose="05000000000000000000" pitchFamily="2" charset="2"/>
              <a:buChar char="l"/>
              <a:defRPr sz="180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4pPr>
            <a:lvl5pPr marL="1828800" indent="-228600">
              <a:buFont typeface="Wingdings" panose="05000000000000000000" pitchFamily="2" charset="2"/>
              <a:buChar char="l"/>
              <a:defRPr sz="180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5pPr>
          </a:lstStyle>
          <a:p>
            <a:pPr lvl="0" eaLnBrk="1" latinLnBrk="0" hangingPunct="1"/>
            <a:r>
              <a:rPr lang="ko-KR" altLang="en-US" dirty="0"/>
              <a:t>마스터 텍스트 스타일 편집</a:t>
            </a:r>
          </a:p>
          <a:p>
            <a:pPr lvl="1" eaLnBrk="1" latinLnBrk="0" hangingPunct="1"/>
            <a:r>
              <a:rPr lang="ko-KR" altLang="en-US" dirty="0"/>
              <a:t>둘째 수준</a:t>
            </a:r>
          </a:p>
          <a:p>
            <a:pPr lvl="2" eaLnBrk="1" latinLnBrk="0" hangingPunct="1"/>
            <a:r>
              <a:rPr lang="ko-KR" altLang="en-US" dirty="0"/>
              <a:t>셋째 수준</a:t>
            </a:r>
          </a:p>
          <a:p>
            <a:pPr lvl="3" eaLnBrk="1" latinLnBrk="0" hangingPunct="1"/>
            <a:r>
              <a:rPr lang="ko-KR" altLang="en-US" dirty="0"/>
              <a:t>넷째 수준</a:t>
            </a:r>
          </a:p>
          <a:p>
            <a:pPr lvl="4" eaLnBrk="1" latinLnBrk="0" hangingPunct="1"/>
            <a:r>
              <a:rPr lang="ko-KR" altLang="en-US" dirty="0"/>
              <a:t>다섯째 수준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39865349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AEAD87-2B1A-42EC-A71D-F96090220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2886426-8A54-4F76-A258-AD8EEBF2F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2AAEE-0ECC-4F9E-94C1-A5210D63F3AE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BB25AAA-97DF-4BBB-BFC4-31411B1E1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8BAA9B3-B1F4-4D95-B4C3-36774A252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C0A67E-4C02-46E0-9C10-0D9C76C0A8A4}" type="slidenum">
              <a:rPr lang="ko-KR" altLang="en-US" smtClean="0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6" name="내용 개체 틀 7">
            <a:extLst>
              <a:ext uri="{FF2B5EF4-FFF2-40B4-BE49-F238E27FC236}">
                <a16:creationId xmlns:a16="http://schemas.microsoft.com/office/drawing/2014/main" id="{BF705C25-6827-43C3-B5D2-F04169D125C0}"/>
              </a:ext>
            </a:extLst>
          </p:cNvPr>
          <p:cNvSpPr>
            <a:spLocks noGrp="1"/>
          </p:cNvSpPr>
          <p:nvPr>
            <p:ph sz="quarter" idx="1" hasCustomPrompt="1"/>
          </p:nvPr>
        </p:nvSpPr>
        <p:spPr>
          <a:xfrm>
            <a:off x="612648" y="1600200"/>
            <a:ext cx="8153400" cy="4495800"/>
          </a:xfrm>
        </p:spPr>
        <p:txBody>
          <a:bodyPr/>
          <a:lstStyle>
            <a:lvl1pPr marL="457200" indent="-457200">
              <a:buSzPct val="100000"/>
              <a:buFont typeface="+mj-lt"/>
              <a:buAutoNum type="arabicPeriod"/>
              <a:defRPr sz="200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1pPr>
            <a:lvl2pPr marL="822960" indent="-457200">
              <a:buFont typeface="+mj-lt"/>
              <a:buAutoNum type="arabicPeriod"/>
              <a:defRPr sz="200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2pPr>
            <a:lvl3pPr marL="1143000" indent="-457200">
              <a:buFont typeface="+mj-lt"/>
              <a:buAutoNum type="arabicPeriod"/>
              <a:defRPr sz="200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3pPr>
            <a:lvl4pPr marL="1485900" indent="-342900">
              <a:buFont typeface="+mj-lt"/>
              <a:buAutoNum type="arabicPeriod"/>
              <a:defRPr sz="180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4pPr>
            <a:lvl5pPr marL="1943100" indent="-342900">
              <a:buFont typeface="+mj-lt"/>
              <a:buAutoNum type="arabicPeriod"/>
              <a:defRPr sz="180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5pPr>
          </a:lstStyle>
          <a:p>
            <a:pPr lvl="0" eaLnBrk="1" latinLnBrk="0" hangingPunct="1"/>
            <a:r>
              <a:rPr lang="ko-KR" altLang="en-US" dirty="0"/>
              <a:t>마스터 텍스트 스타일 편집</a:t>
            </a:r>
          </a:p>
          <a:p>
            <a:pPr lvl="1" eaLnBrk="1" latinLnBrk="0" hangingPunct="1"/>
            <a:r>
              <a:rPr lang="ko-KR" altLang="en-US" dirty="0"/>
              <a:t>둘째 수준</a:t>
            </a:r>
          </a:p>
          <a:p>
            <a:pPr lvl="2" eaLnBrk="1" latinLnBrk="0" hangingPunct="1"/>
            <a:r>
              <a:rPr lang="ko-KR" altLang="en-US" dirty="0"/>
              <a:t>셋째 수준</a:t>
            </a:r>
          </a:p>
          <a:p>
            <a:pPr lvl="3" eaLnBrk="1" latinLnBrk="0" hangingPunct="1"/>
            <a:r>
              <a:rPr lang="ko-KR" altLang="en-US" dirty="0"/>
              <a:t>넷째 수준</a:t>
            </a:r>
          </a:p>
          <a:p>
            <a:pPr lvl="4" eaLnBrk="1" latinLnBrk="0" hangingPunct="1"/>
            <a:r>
              <a:rPr lang="ko-KR" altLang="en-US" dirty="0"/>
              <a:t>다섯째 수준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18444691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ko-KR" altLang="en-US"/>
              <a:t>마스터 텍스트 스타일 편집</a:t>
            </a:r>
          </a:p>
        </p:txBody>
      </p:sp>
      <p:sp>
        <p:nvSpPr>
          <p:cNvPr id="7" name="직사각형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직사각형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직사각형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12" name="날짜 개체 틀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58B3D-AF80-4B88-BC74-82D36DA8D1E2}" type="datetimeFigureOut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13" name="슬라이드 번호 개체 틀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C06A4B6B-9AEF-492C-9BD0-234C756F6E2F}" type="slidenum">
              <a:rPr lang="ko-KR" altLang="en-US" smtClean="0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14" name="바닥글 개체 틀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5093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9" name="내용 개체 틀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 편집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11" name="내용 개체 틀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 편집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8" name="날짜 개체 틀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31E58B3D-AF80-4B88-BC74-82D36DA8D1E2}" type="datetimeFigureOut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10" name="슬라이드 번호 개체 틀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>
              <a:defRPr/>
            </a:pPr>
            <a:fld id="{A34C3E3E-8143-4780-AE9C-A20F1D4F1880}" type="slidenum">
              <a:rPr lang="ko-KR" altLang="en-US" smtClean="0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12" name="바닥글 개체 틀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08509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11" name="내용 개체 틀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 편집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13" name="내용 개체 틀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 편집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10" name="날짜 개체 틀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31E58B3D-AF80-4B88-BC74-82D36DA8D1E2}" type="datetimeFigureOut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12" name="슬라이드 번호 개체 틀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>
              <a:defRPr/>
            </a:pPr>
            <a:fld id="{7106D1B0-0951-46C8-96EF-45750F6E876B}" type="slidenum">
              <a:rPr lang="ko-KR" altLang="en-US" smtClean="0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14" name="바닥글 개체 틀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ko-KR" altLang="en-US"/>
          </a:p>
        </p:txBody>
      </p:sp>
      <p:sp>
        <p:nvSpPr>
          <p:cNvPr id="16" name="텍스트 개체 틀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ko-KR" altLang="en-US"/>
              <a:t>마스터 텍스트 스타일 편집</a:t>
            </a:r>
          </a:p>
        </p:txBody>
      </p:sp>
      <p:sp>
        <p:nvSpPr>
          <p:cNvPr id="15" name="텍스트 개체 틀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ko-KR" altLang="en-US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7762718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58B3D-AF80-4B88-BC74-82D36DA8D1E2}" type="datetimeFigureOut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C980495E-9B86-4420-9E48-68F1A673F04C}" type="slidenum">
              <a:rPr lang="ko-KR" altLang="en-US" smtClean="0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079618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58B3D-AF80-4B88-BC74-82D36DA8D1E2}" type="datetimeFigureOut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41E3C6FA-4B00-434C-9072-C1B102A1479A}" type="slidenum">
              <a:rPr lang="ko-KR" altLang="en-US" smtClean="0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0432413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58B3D-AF80-4B88-BC74-82D36DA8D1E2}" type="datetimeFigureOut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65DB6067-293A-4640-A01E-3DC6CD8CB472}" type="slidenum">
              <a:rPr lang="ko-KR" altLang="en-US" smtClean="0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3" name="텍스트 개체 틀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ko-KR" altLang="en-US"/>
              <a:t>마스터 텍스트 스타일 편집</a:t>
            </a:r>
          </a:p>
        </p:txBody>
      </p:sp>
      <p:sp>
        <p:nvSpPr>
          <p:cNvPr id="9" name="내용 개체 틀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 편집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8677474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ko-KR" altLang="en-US"/>
              <a:t>마스터 텍스트 스타일 편집</a:t>
            </a:r>
          </a:p>
        </p:txBody>
      </p:sp>
      <p:sp>
        <p:nvSpPr>
          <p:cNvPr id="8" name="직사각형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직사각형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직사각형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11" name="직사각형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날짜 개체 틀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31E58B3D-AF80-4B88-BC74-82D36DA8D1E2}" type="datetimeFigureOut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13" name="슬라이드 번호 개체 틀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pPr>
              <a:defRPr/>
            </a:pPr>
            <a:fld id="{A5A6715D-45E8-40ED-AA33-E961FB66FF53}" type="slidenum">
              <a:rPr lang="ko-KR" altLang="en-US" smtClean="0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14" name="바닥글 개체 틀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ko-KR" altLang="en-US"/>
              <a:t>그림을 추가하려면 아이콘을 클릭하십시오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19776812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ko-KR" altLang="en-US"/>
              <a:t>마스터 텍스트 스타일 편집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58B3D-AF80-4B88-BC74-82D36DA8D1E2}" type="datetimeFigureOut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14F8911-ED66-490C-9F02-0DE174B43B4D}" type="slidenum">
              <a:rPr lang="ko-KR" altLang="en-US" smtClean="0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553507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ko-KR" altLang="en-US"/>
              <a:t>마스터 텍스트 스타일 편집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31E58B3D-AF80-4B88-BC74-82D36DA8D1E2}" type="datetimeFigureOut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직사각형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직사각형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pPr>
              <a:defRPr/>
            </a:pPr>
            <a:fld id="{6E64881B-F38E-4D5F-94A5-007DB14E4327}" type="slidenum">
              <a:rPr lang="ko-KR" altLang="en-US" smtClean="0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7940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제목, 텍스트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125538" y="381000"/>
            <a:ext cx="7789862" cy="5715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685800" y="1333500"/>
            <a:ext cx="4029075" cy="4152900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867275" y="1333500"/>
            <a:ext cx="4030663" cy="4152900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0"/>
          </p:nvPr>
        </p:nvSpPr>
        <p:spPr>
          <a:xfrm>
            <a:off x="5884863" y="64008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91084F-F0D4-4A37-ADDA-976945E6ABBC}" type="slidenum">
              <a:rPr lang="ko-KR" altLang="en-US" smtClean="0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15342300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제목 개체 틀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13" name="텍스트 개체 틀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ko-KR" altLang="en-US" dirty="0"/>
              <a:t>마스터 텍스트 스타일을 편집합니다</a:t>
            </a:r>
          </a:p>
          <a:p>
            <a:pPr lvl="1" eaLnBrk="1" latinLnBrk="0" hangingPunct="1"/>
            <a:r>
              <a:rPr kumimoji="0" lang="ko-KR" altLang="en-US" dirty="0"/>
              <a:t>둘째 수준</a:t>
            </a:r>
          </a:p>
          <a:p>
            <a:pPr lvl="2" eaLnBrk="1" latinLnBrk="0" hangingPunct="1"/>
            <a:r>
              <a:rPr kumimoji="0" lang="ko-KR" altLang="en-US" dirty="0"/>
              <a:t>셋째 수준</a:t>
            </a:r>
          </a:p>
          <a:p>
            <a:pPr lvl="3" eaLnBrk="1" latinLnBrk="0" hangingPunct="1"/>
            <a:r>
              <a:rPr kumimoji="0" lang="ko-KR" altLang="en-US" dirty="0"/>
              <a:t>넷째 수준</a:t>
            </a:r>
          </a:p>
          <a:p>
            <a:pPr lvl="4" eaLnBrk="1" latinLnBrk="0" hangingPunct="1"/>
            <a:r>
              <a:rPr kumimoji="0" lang="ko-KR" altLang="en-US" dirty="0"/>
              <a:t>다섯째 수준</a:t>
            </a:r>
            <a:endParaRPr kumimoji="0" lang="en-US" dirty="0"/>
          </a:p>
        </p:txBody>
      </p:sp>
      <p:sp>
        <p:nvSpPr>
          <p:cNvPr id="14" name="날짜 개체 틀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11B2AAEE-0ECC-4F9E-94C1-A5210D63F3AE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직사각형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직사각형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직사각형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슬라이드 번호 개체 틀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A4C0A67E-4C02-46E0-9C10-0D9C76C0A8A4}" type="slidenum">
              <a:rPr lang="ko-KR" altLang="en-US" smtClean="0"/>
              <a:pPr>
                <a:defRPr/>
              </a:pPr>
              <a:t>‹#›</a:t>
            </a:fld>
            <a:endParaRPr lang="en-US" altLang="ko-KR"/>
          </a:p>
        </p:txBody>
      </p:sp>
      <p:pic>
        <p:nvPicPr>
          <p:cNvPr id="418818" name="Picture 2" descr="Image result for java icon"/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14" y="339962"/>
            <a:ext cx="426171" cy="767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09721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93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  <p:sldLayoutId id="2147483692" r:id="rId13"/>
  </p:sldLayoutIdLst>
  <p:txStyles>
    <p:titleStyle>
      <a:lvl1pPr algn="l" rtl="0" eaLnBrk="1" latinLnBrk="1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1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000" kern="1200">
          <a:solidFill>
            <a:schemeClr val="tx1"/>
          </a:solidFill>
          <a:latin typeface="굴림" panose="020B0600000101010101" pitchFamily="50" charset="-127"/>
          <a:ea typeface="굴림" panose="020B0600000101010101" pitchFamily="50" charset="-127"/>
          <a:cs typeface="+mn-cs"/>
        </a:defRPr>
      </a:lvl1pPr>
      <a:lvl2pPr marL="640080" indent="-274320" algn="l" rtl="0" eaLnBrk="1" latinLnBrk="1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000" kern="1200">
          <a:solidFill>
            <a:schemeClr val="tx1"/>
          </a:solidFill>
          <a:latin typeface="굴림" panose="020B0600000101010101" pitchFamily="50" charset="-127"/>
          <a:ea typeface="굴림" panose="020B0600000101010101" pitchFamily="50" charset="-127"/>
          <a:cs typeface="+mn-cs"/>
        </a:defRPr>
      </a:lvl2pPr>
      <a:lvl3pPr marL="914400" indent="-228600" algn="l" rtl="0" eaLnBrk="1" latinLnBrk="1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1800" kern="1200">
          <a:solidFill>
            <a:schemeClr val="tx1"/>
          </a:solidFill>
          <a:latin typeface="굴림" panose="020B0600000101010101" pitchFamily="50" charset="-127"/>
          <a:ea typeface="굴림" panose="020B0600000101010101" pitchFamily="50" charset="-127"/>
          <a:cs typeface="+mn-cs"/>
        </a:defRPr>
      </a:lvl3pPr>
      <a:lvl4pPr marL="1371600" indent="-228600" algn="l" rtl="0" eaLnBrk="1" latinLnBrk="1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1800" kern="1200">
          <a:solidFill>
            <a:schemeClr val="tx1"/>
          </a:solidFill>
          <a:latin typeface="굴림" panose="020B0600000101010101" pitchFamily="50" charset="-127"/>
          <a:ea typeface="굴림" panose="020B0600000101010101" pitchFamily="50" charset="-127"/>
          <a:cs typeface="+mn-cs"/>
        </a:defRPr>
      </a:lvl4pPr>
      <a:lvl5pPr marL="1828800" indent="-228600" algn="l" rtl="0" eaLnBrk="1" latinLnBrk="1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1800" kern="1200">
          <a:solidFill>
            <a:schemeClr val="tx1"/>
          </a:solidFill>
          <a:latin typeface="굴림" panose="020B0600000101010101" pitchFamily="50" charset="-127"/>
          <a:ea typeface="굴림" panose="020B0600000101010101" pitchFamily="50" charset="-127"/>
          <a:cs typeface="+mn-cs"/>
        </a:defRPr>
      </a:lvl5pPr>
      <a:lvl6pPr marL="2103120" indent="-228600" algn="l" rtl="0" eaLnBrk="1" latinLnBrk="1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1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1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1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6B8A08-3916-4E1A-926B-9DB33C65D7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제 </a:t>
            </a:r>
            <a:r>
              <a:rPr lang="en-US" altLang="ko-KR" dirty="0"/>
              <a:t>7</a:t>
            </a:r>
            <a:r>
              <a:rPr lang="ko-KR" altLang="en-US" dirty="0"/>
              <a:t>장 </a:t>
            </a:r>
            <a:r>
              <a:rPr lang="ko-KR" altLang="en-US" dirty="0" err="1"/>
              <a:t>반복문</a:t>
            </a:r>
            <a:r>
              <a:rPr lang="ko-KR" altLang="en-US" dirty="0"/>
              <a:t> 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6227B60-13C7-40ED-AD49-983CA3E023A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FC07BA8-F121-45C7-B942-1436281A844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8663" r="54355" b="24510"/>
          <a:stretch/>
        </p:blipFill>
        <p:spPr>
          <a:xfrm>
            <a:off x="2299447" y="1703295"/>
            <a:ext cx="3509682" cy="3148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7824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Lab7: </a:t>
            </a:r>
            <a:r>
              <a:rPr lang="ko-KR" altLang="en-US" b="1" dirty="0"/>
              <a:t>도박사의 확률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ko-KR" altLang="en-US" sz="1800" dirty="0"/>
              <a:t>어떤 사람이 </a:t>
            </a:r>
            <a:r>
              <a:rPr lang="en-US" altLang="ko-KR" sz="1800" dirty="0"/>
              <a:t>50</a:t>
            </a:r>
            <a:r>
              <a:rPr lang="ko-KR" altLang="en-US" sz="1800" dirty="0"/>
              <a:t>달러를 가지고 라스베가스에서 슬롯 머신 게임을 한다고 하자</a:t>
            </a:r>
            <a:r>
              <a:rPr lang="en-US" altLang="ko-KR" sz="1800" dirty="0"/>
              <a:t>. </a:t>
            </a:r>
            <a:r>
              <a:rPr lang="ko-KR" altLang="en-US" sz="1800" dirty="0"/>
              <a:t>한 번의 게임에 </a:t>
            </a:r>
            <a:r>
              <a:rPr lang="en-US" altLang="ko-KR" sz="1800" dirty="0"/>
              <a:t>1</a:t>
            </a:r>
            <a:r>
              <a:rPr lang="ko-KR" altLang="en-US" sz="1800" dirty="0"/>
              <a:t>달러를 건다고 가정하자</a:t>
            </a:r>
            <a:r>
              <a:rPr lang="en-US" altLang="ko-KR" sz="1800" dirty="0"/>
              <a:t>. </a:t>
            </a:r>
            <a:r>
              <a:rPr lang="ko-KR" altLang="en-US" sz="1800" dirty="0"/>
              <a:t>돈을 딸 확률은 </a:t>
            </a:r>
            <a:r>
              <a:rPr lang="en-US" altLang="ko-KR" sz="1800" dirty="0"/>
              <a:t>0.5</a:t>
            </a:r>
            <a:r>
              <a:rPr lang="ko-KR" altLang="en-US" sz="1800" dirty="0"/>
              <a:t>이라고 가정하자</a:t>
            </a:r>
            <a:r>
              <a:rPr lang="en-US" altLang="ko-KR" sz="1800" dirty="0"/>
              <a:t>(</a:t>
            </a:r>
            <a:r>
              <a:rPr lang="ko-KR" altLang="en-US" sz="1800" dirty="0"/>
              <a:t>현실과는 많이 다르다</a:t>
            </a:r>
            <a:r>
              <a:rPr lang="en-US" altLang="ko-KR" sz="1800" dirty="0"/>
              <a:t>). </a:t>
            </a:r>
            <a:r>
              <a:rPr lang="ko-KR" altLang="en-US" sz="1800" dirty="0"/>
              <a:t>라스베가스에 가면</a:t>
            </a:r>
            <a:r>
              <a:rPr lang="en-US" altLang="ko-KR" sz="1800" dirty="0"/>
              <a:t>, </a:t>
            </a:r>
            <a:r>
              <a:rPr lang="ko-KR" altLang="en-US" sz="1800" dirty="0"/>
              <a:t>가진 돈을 다 잃거나 목표 금액인 </a:t>
            </a:r>
            <a:r>
              <a:rPr lang="en-US" altLang="ko-KR" sz="1800" dirty="0"/>
              <a:t>250</a:t>
            </a:r>
            <a:r>
              <a:rPr lang="ko-KR" altLang="en-US" sz="1800" dirty="0"/>
              <a:t>달러에 도달할 때까지 </a:t>
            </a:r>
            <a:r>
              <a:rPr lang="ko-KR" altLang="en-US" sz="1800" dirty="0" smtClean="0"/>
              <a:t>게임을</a:t>
            </a:r>
            <a:r>
              <a:rPr lang="en-US" altLang="ko-KR" sz="1800" dirty="0" smtClean="0"/>
              <a:t>. </a:t>
            </a:r>
            <a:r>
              <a:rPr lang="ko-KR" altLang="en-US" sz="1800" dirty="0"/>
              <a:t>어떤 사람이 라스베가스에 </a:t>
            </a:r>
            <a:r>
              <a:rPr lang="en-US" altLang="ko-KR" sz="1800" dirty="0"/>
              <a:t>100</a:t>
            </a:r>
            <a:r>
              <a:rPr lang="ko-KR" altLang="en-US" sz="1800" dirty="0"/>
              <a:t>번을 갔다면 몇 번이나 </a:t>
            </a:r>
            <a:r>
              <a:rPr lang="en-US" altLang="ko-KR" sz="1800" dirty="0"/>
              <a:t>250</a:t>
            </a:r>
            <a:r>
              <a:rPr lang="ko-KR" altLang="en-US" sz="1800" dirty="0"/>
              <a:t>달러를 따서 </a:t>
            </a:r>
            <a:r>
              <a:rPr lang="ko-KR" altLang="en-US" sz="1800" dirty="0" err="1"/>
              <a:t>돌아올수</a:t>
            </a:r>
            <a:r>
              <a:rPr lang="ko-KR" altLang="en-US" sz="1800" dirty="0"/>
              <a:t> 있을까</a:t>
            </a:r>
            <a:r>
              <a:rPr lang="en-US" altLang="ko-KR" sz="1800" dirty="0"/>
              <a:t>? </a:t>
            </a:r>
            <a:endParaRPr lang="ko-KR" altLang="en-US" sz="180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3914775"/>
            <a:ext cx="2914650" cy="2714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36379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Lab:</a:t>
            </a:r>
            <a:r>
              <a:rPr lang="ko-KR" altLang="en-US" dirty="0"/>
              <a:t>도박사의 확률</a:t>
            </a:r>
          </a:p>
        </p:txBody>
      </p:sp>
      <p:sp>
        <p:nvSpPr>
          <p:cNvPr id="166" name="직사각형 165"/>
          <p:cNvSpPr/>
          <p:nvPr/>
        </p:nvSpPr>
        <p:spPr>
          <a:xfrm>
            <a:off x="1289966" y="2498051"/>
            <a:ext cx="4572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pPr latinLnBrk="1"/>
            <a:r>
              <a:rPr lang="ko-KR" altLang="en-US" sz="1600" dirty="0">
                <a:solidFill>
                  <a:schemeClr val="bg1"/>
                </a:solidFill>
              </a:rPr>
              <a:t>초기 금액 </a:t>
            </a:r>
            <a:r>
              <a:rPr lang="en-US" altLang="ko-KR" sz="1600" dirty="0">
                <a:solidFill>
                  <a:schemeClr val="bg1"/>
                </a:solidFill>
              </a:rPr>
              <a:t>$50</a:t>
            </a:r>
          </a:p>
          <a:p>
            <a:pPr latinLnBrk="1"/>
            <a:r>
              <a:rPr lang="ko-KR" altLang="en-US" sz="1600" dirty="0">
                <a:solidFill>
                  <a:schemeClr val="bg1"/>
                </a:solidFill>
              </a:rPr>
              <a:t>목표 금액 </a:t>
            </a:r>
            <a:r>
              <a:rPr lang="en-US" altLang="ko-KR" sz="1600" dirty="0">
                <a:solidFill>
                  <a:schemeClr val="bg1"/>
                </a:solidFill>
              </a:rPr>
              <a:t>$250</a:t>
            </a:r>
          </a:p>
          <a:p>
            <a:pPr latinLnBrk="1"/>
            <a:r>
              <a:rPr lang="en-US" altLang="ko-KR" sz="1600" dirty="0">
                <a:solidFill>
                  <a:schemeClr val="bg1"/>
                </a:solidFill>
              </a:rPr>
              <a:t>100</a:t>
            </a:r>
            <a:r>
              <a:rPr lang="ko-KR" altLang="en-US" sz="1600" dirty="0">
                <a:solidFill>
                  <a:schemeClr val="bg1"/>
                </a:solidFill>
              </a:rPr>
              <a:t>번 중에서 </a:t>
            </a:r>
            <a:r>
              <a:rPr lang="en-US" altLang="ko-KR" sz="1600" dirty="0">
                <a:solidFill>
                  <a:schemeClr val="bg1"/>
                </a:solidFill>
              </a:rPr>
              <a:t>20</a:t>
            </a:r>
            <a:r>
              <a:rPr lang="ko-KR" altLang="en-US" sz="1600" dirty="0">
                <a:solidFill>
                  <a:schemeClr val="bg1"/>
                </a:solidFill>
              </a:rPr>
              <a:t>번 성공</a:t>
            </a:r>
            <a:endParaRPr lang="en-US" altLang="ko-KR" sz="1600" dirty="0">
              <a:solidFill>
                <a:schemeClr val="bg1"/>
              </a:solidFill>
            </a:endParaRPr>
          </a:p>
        </p:txBody>
      </p:sp>
      <p:grpSp>
        <p:nvGrpSpPr>
          <p:cNvPr id="167" name="그룹 166">
            <a:extLst>
              <a:ext uri="{FF2B5EF4-FFF2-40B4-BE49-F238E27FC236}">
                <a16:creationId xmlns:a16="http://schemas.microsoft.com/office/drawing/2014/main" id="{ADD3C201-FBF1-4E3D-8CE7-A2C27CD2327E}"/>
              </a:ext>
            </a:extLst>
          </p:cNvPr>
          <p:cNvGrpSpPr/>
          <p:nvPr/>
        </p:nvGrpSpPr>
        <p:grpSpPr>
          <a:xfrm>
            <a:off x="935543" y="2026042"/>
            <a:ext cx="6692154" cy="1775013"/>
            <a:chOff x="5160674" y="1957033"/>
            <a:chExt cx="3574757" cy="2657582"/>
          </a:xfrm>
        </p:grpSpPr>
        <p:pic>
          <p:nvPicPr>
            <p:cNvPr id="168" name="그림 167">
              <a:extLst>
                <a:ext uri="{FF2B5EF4-FFF2-40B4-BE49-F238E27FC236}">
                  <a16:creationId xmlns:a16="http://schemas.microsoft.com/office/drawing/2014/main" id="{255C59FB-38AB-4A22-A068-3DE0CDBACD0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740869" y="4264555"/>
              <a:ext cx="745785" cy="350060"/>
            </a:xfrm>
            <a:prstGeom prst="rect">
              <a:avLst/>
            </a:prstGeom>
          </p:spPr>
        </p:pic>
        <p:sp>
          <p:nvSpPr>
            <p:cNvPr id="169" name="직사각형 168">
              <a:extLst>
                <a:ext uri="{FF2B5EF4-FFF2-40B4-BE49-F238E27FC236}">
                  <a16:creationId xmlns:a16="http://schemas.microsoft.com/office/drawing/2014/main" id="{F1B1EEC6-1566-4C72-89A4-399D351C5F7F}"/>
                </a:ext>
              </a:extLst>
            </p:cNvPr>
            <p:cNvSpPr/>
            <p:nvPr/>
          </p:nvSpPr>
          <p:spPr>
            <a:xfrm>
              <a:off x="5160674" y="1957033"/>
              <a:ext cx="3574757" cy="2441698"/>
            </a:xfrm>
            <a:prstGeom prst="rect">
              <a:avLst/>
            </a:prstGeom>
            <a:solidFill>
              <a:srgbClr val="1F6EA7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ko-KR" altLang="en-US" sz="1600" b="0" i="0" u="none" strike="noStrike" baseline="0" dirty="0">
                  <a:latin typeface="Trebuchet MS" panose="020B0603020202020204" pitchFamily="34" charset="0"/>
                  <a:ea typeface="굴림" panose="020B0600000101010101" pitchFamily="50" charset="-127"/>
                </a:rPr>
                <a:t>초기 금액 </a:t>
              </a:r>
              <a:r>
                <a:rPr lang="en-US" altLang="ko-KR" sz="1600" b="0" i="0" u="none" strike="noStrike" baseline="0" dirty="0">
                  <a:latin typeface="Trebuchet MS" panose="020B0603020202020204" pitchFamily="34" charset="0"/>
                  <a:ea typeface="굴림" panose="020B0600000101010101" pitchFamily="50" charset="-127"/>
                </a:rPr>
                <a:t>$50</a:t>
              </a:r>
            </a:p>
            <a:p>
              <a:pPr algn="l"/>
              <a:r>
                <a:rPr lang="ko-KR" altLang="en-US" sz="1600" b="0" i="0" u="none" strike="noStrike" baseline="0" dirty="0">
                  <a:latin typeface="Trebuchet MS" panose="020B0603020202020204" pitchFamily="34" charset="0"/>
                  <a:ea typeface="굴림" panose="020B0600000101010101" pitchFamily="50" charset="-127"/>
                </a:rPr>
                <a:t>목표 금액 </a:t>
              </a:r>
              <a:r>
                <a:rPr lang="en-US" altLang="ko-KR" sz="1600" b="0" i="0" u="none" strike="noStrike" baseline="0" dirty="0">
                  <a:latin typeface="Trebuchet MS" panose="020B0603020202020204" pitchFamily="34" charset="0"/>
                  <a:ea typeface="굴림" panose="020B0600000101010101" pitchFamily="50" charset="-127"/>
                </a:rPr>
                <a:t>$250</a:t>
              </a:r>
            </a:p>
            <a:p>
              <a:pPr algn="l"/>
              <a:r>
                <a:rPr lang="en-US" altLang="ko-KR" sz="1600" b="0" i="0" u="none" strike="noStrike" baseline="0" dirty="0">
                  <a:latin typeface="Trebuchet MS" panose="020B0603020202020204" pitchFamily="34" charset="0"/>
                  <a:ea typeface="굴림" panose="020B0600000101010101" pitchFamily="50" charset="-127"/>
                </a:rPr>
                <a:t>100</a:t>
              </a:r>
              <a:r>
                <a:rPr lang="ko-KR" altLang="en-US" sz="1600" b="0" i="0" u="none" strike="noStrike" baseline="0" dirty="0">
                  <a:latin typeface="Trebuchet MS" panose="020B0603020202020204" pitchFamily="34" charset="0"/>
                  <a:ea typeface="굴림" panose="020B0600000101010101" pitchFamily="50" charset="-127"/>
                </a:rPr>
                <a:t>번 중에서 </a:t>
              </a:r>
              <a:r>
                <a:rPr lang="en-US" altLang="ko-KR" sz="1600" b="0" i="0" u="none" strike="noStrike" baseline="0" dirty="0">
                  <a:latin typeface="Trebuchet MS" panose="020B0603020202020204" pitchFamily="34" charset="0"/>
                  <a:ea typeface="굴림" panose="020B0600000101010101" pitchFamily="50" charset="-127"/>
                </a:rPr>
                <a:t>20</a:t>
              </a:r>
              <a:r>
                <a:rPr lang="ko-KR" altLang="en-US" sz="1600" b="0" i="0" u="none" strike="noStrike" baseline="0" dirty="0">
                  <a:latin typeface="Trebuchet MS" panose="020B0603020202020204" pitchFamily="34" charset="0"/>
                  <a:ea typeface="굴림" panose="020B0600000101010101" pitchFamily="50" charset="-127"/>
                </a:rPr>
                <a:t>번 성공</a:t>
              </a:r>
              <a:endParaRPr lang="en-US" altLang="ko-KR" sz="1050" dirty="0">
                <a:latin typeface="Trebuchet MS" panose="020B0603020202020204" pitchFamily="34" charset="0"/>
                <a:ea typeface="굴림" panose="020B060000010101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335453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612648" y="228600"/>
            <a:ext cx="8153400" cy="6308002"/>
          </a:xfrm>
          <a:solidFill>
            <a:srgbClr val="FFFFCC"/>
          </a:solidFill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pPr marL="0" marR="0" indent="0" algn="just" rtl="0">
              <a:spcBef>
                <a:spcPts val="0"/>
              </a:spcBef>
              <a:buNone/>
            </a:pPr>
            <a:r>
              <a:rPr lang="en-US" altLang="ko-KR" sz="1600" b="0" i="0" u="none" strike="noStrike" baseline="0" dirty="0">
                <a:solidFill>
                  <a:srgbClr val="808080"/>
                </a:solidFill>
                <a:latin typeface="Century Schoolbook" panose="02040604050505020304" pitchFamily="18" charset="0"/>
              </a:rPr>
              <a:t>#include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</a:t>
            </a:r>
            <a:r>
              <a:rPr lang="en-US" altLang="ko-KR" sz="1600" b="0" i="0" u="none" strike="noStrike" baseline="0" dirty="0">
                <a:solidFill>
                  <a:srgbClr val="A31515"/>
                </a:solidFill>
                <a:latin typeface="Century Schoolbook" panose="02040604050505020304" pitchFamily="18" charset="0"/>
              </a:rPr>
              <a:t>&lt;</a:t>
            </a:r>
            <a:r>
              <a:rPr lang="en-US" altLang="ko-KR" sz="1600" b="0" i="0" u="none" strike="noStrike" baseline="0" dirty="0" err="1">
                <a:solidFill>
                  <a:srgbClr val="A31515"/>
                </a:solidFill>
                <a:latin typeface="Century Schoolbook" panose="02040604050505020304" pitchFamily="18" charset="0"/>
              </a:rPr>
              <a:t>stdio.h</a:t>
            </a:r>
            <a:r>
              <a:rPr lang="en-US" altLang="ko-KR" sz="1600" b="0" i="0" u="none" strike="noStrike" baseline="0" dirty="0">
                <a:solidFill>
                  <a:srgbClr val="A31515"/>
                </a:solidFill>
                <a:latin typeface="Century Schoolbook" panose="02040604050505020304" pitchFamily="18" charset="0"/>
              </a:rPr>
              <a:t>&gt;</a:t>
            </a:r>
          </a:p>
          <a:p>
            <a:pPr marL="0" marR="0" indent="0" algn="just" rtl="0">
              <a:spcBef>
                <a:spcPts val="0"/>
              </a:spcBef>
              <a:buNone/>
            </a:pPr>
            <a:r>
              <a:rPr lang="en-US" altLang="ko-KR" sz="1600" b="0" i="0" u="none" strike="noStrike" baseline="0" dirty="0">
                <a:solidFill>
                  <a:srgbClr val="808080"/>
                </a:solidFill>
                <a:latin typeface="Century Schoolbook" panose="02040604050505020304" pitchFamily="18" charset="0"/>
              </a:rPr>
              <a:t>#include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</a:t>
            </a:r>
            <a:r>
              <a:rPr lang="en-US" altLang="ko-KR" sz="1600" b="0" i="0" u="none" strike="noStrike" baseline="0" dirty="0">
                <a:solidFill>
                  <a:srgbClr val="A31515"/>
                </a:solidFill>
                <a:latin typeface="Century Schoolbook" panose="02040604050505020304" pitchFamily="18" charset="0"/>
              </a:rPr>
              <a:t>&lt;</a:t>
            </a:r>
            <a:r>
              <a:rPr lang="en-US" altLang="ko-KR" sz="1600" b="0" i="0" u="none" strike="noStrike" baseline="0" dirty="0" err="1">
                <a:solidFill>
                  <a:srgbClr val="A31515"/>
                </a:solidFill>
                <a:latin typeface="Century Schoolbook" panose="02040604050505020304" pitchFamily="18" charset="0"/>
              </a:rPr>
              <a:t>stdlib.h</a:t>
            </a:r>
            <a:r>
              <a:rPr lang="en-US" altLang="ko-KR" sz="1600" b="0" i="0" u="none" strike="noStrike" baseline="0" dirty="0">
                <a:solidFill>
                  <a:srgbClr val="A31515"/>
                </a:solidFill>
                <a:latin typeface="Century Schoolbook" panose="02040604050505020304" pitchFamily="18" charset="0"/>
              </a:rPr>
              <a:t>&gt;</a:t>
            </a:r>
          </a:p>
          <a:p>
            <a:pPr marL="0" marR="0" indent="0" algn="just" rtl="0">
              <a:spcBef>
                <a:spcPts val="0"/>
              </a:spcBef>
              <a:buNone/>
            </a:pPr>
            <a:endParaRPr lang="ko-KR" altLang="en-US" sz="1600" b="0" i="0" u="none" strike="noStrike" baseline="0" dirty="0">
              <a:solidFill>
                <a:srgbClr val="000000"/>
              </a:solidFill>
              <a:latin typeface="Century Schoolbook" panose="02040604050505020304" pitchFamily="18" charset="0"/>
            </a:endParaRPr>
          </a:p>
          <a:p>
            <a:pPr marL="0" marR="0" indent="0" algn="just" rtl="0">
              <a:spcBef>
                <a:spcPts val="0"/>
              </a:spcBef>
              <a:buNone/>
            </a:pP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int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main(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void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)</a:t>
            </a:r>
          </a:p>
          <a:p>
            <a:pPr marL="0" marR="0" indent="0" algn="just" rtl="0">
              <a:spcBef>
                <a:spcPts val="0"/>
              </a:spcBef>
              <a:buNone/>
            </a:pP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{</a:t>
            </a:r>
          </a:p>
          <a:p>
            <a:pPr marL="0" marR="0" indent="0" algn="just" rtl="0">
              <a:spcBef>
                <a:spcPts val="0"/>
              </a:spcBef>
              <a:buNone/>
            </a:pP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	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int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</a:t>
            </a:r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</a:rPr>
              <a:t>initial_money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= 50;</a:t>
            </a:r>
          </a:p>
          <a:p>
            <a:pPr marL="0" marR="0" indent="0" algn="just" rtl="0">
              <a:spcBef>
                <a:spcPts val="0"/>
              </a:spcBef>
              <a:buNone/>
            </a:pP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	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int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goal = 250;</a:t>
            </a:r>
          </a:p>
          <a:p>
            <a:pPr marL="0" marR="0" indent="0" algn="just" rtl="0">
              <a:spcBef>
                <a:spcPts val="0"/>
              </a:spcBef>
              <a:buNone/>
            </a:pP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	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int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</a:t>
            </a:r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</a:rPr>
              <a:t>i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;</a:t>
            </a:r>
          </a:p>
          <a:p>
            <a:pPr marL="0" marR="0" indent="0" algn="just" rtl="0">
              <a:spcBef>
                <a:spcPts val="0"/>
              </a:spcBef>
              <a:buNone/>
            </a:pP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	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int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wins = 0;</a:t>
            </a:r>
          </a:p>
          <a:p>
            <a:pPr marL="0" marR="0" indent="0" algn="just" rtl="0">
              <a:spcBef>
                <a:spcPts val="0"/>
              </a:spcBef>
              <a:buNone/>
            </a:pPr>
            <a:endParaRPr lang="ko-KR" altLang="en-US" sz="1600" b="0" i="0" u="none" strike="noStrike" baseline="0" dirty="0">
              <a:solidFill>
                <a:srgbClr val="000000"/>
              </a:solidFill>
              <a:latin typeface="Century Schoolbook" panose="02040604050505020304" pitchFamily="18" charset="0"/>
            </a:endParaRPr>
          </a:p>
          <a:p>
            <a:pPr marL="0" marR="0" indent="0" algn="just" rtl="0">
              <a:spcBef>
                <a:spcPts val="0"/>
              </a:spcBef>
              <a:buNone/>
            </a:pP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	</a:t>
            </a:r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</a:rPr>
              <a:t>srand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((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unsigned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)time(</a:t>
            </a:r>
            <a:r>
              <a:rPr lang="en-US" altLang="ko-KR" sz="1600" b="0" i="0" u="none" strike="noStrike" baseline="0" dirty="0">
                <a:solidFill>
                  <a:srgbClr val="6F008A"/>
                </a:solidFill>
                <a:latin typeface="Century Schoolbook" panose="02040604050505020304" pitchFamily="18" charset="0"/>
              </a:rPr>
              <a:t>NULL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));</a:t>
            </a:r>
          </a:p>
          <a:p>
            <a:pPr marL="0" marR="0" indent="0" algn="just" rtl="0">
              <a:spcBef>
                <a:spcPts val="0"/>
              </a:spcBef>
              <a:buNone/>
            </a:pPr>
            <a:r>
              <a:rPr lang="nn-NO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	</a:t>
            </a:r>
            <a:r>
              <a:rPr lang="nn-NO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for</a:t>
            </a:r>
            <a:r>
              <a:rPr lang="nn-NO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(i = 0; i &lt; 100; i++) {</a:t>
            </a:r>
          </a:p>
          <a:p>
            <a:pPr marL="0" marR="0" indent="0" algn="just" rtl="0">
              <a:spcBef>
                <a:spcPts val="0"/>
              </a:spcBef>
              <a:buNone/>
            </a:pP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		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int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cash = </a:t>
            </a:r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</a:rPr>
              <a:t>initial_money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;</a:t>
            </a:r>
          </a:p>
          <a:p>
            <a:pPr marL="0" marR="0" indent="0" algn="just" rtl="0">
              <a:spcBef>
                <a:spcPts val="0"/>
              </a:spcBef>
              <a:buNone/>
            </a:pP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		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while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(cash &gt; 0 &amp;&amp; cash &lt; goal) {</a:t>
            </a:r>
          </a:p>
          <a:p>
            <a:pPr marL="0" marR="0" indent="0" algn="just" rtl="0">
              <a:spcBef>
                <a:spcPts val="0"/>
              </a:spcBef>
              <a:buNone/>
            </a:pP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			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if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((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double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)rand()/</a:t>
            </a:r>
            <a:r>
              <a:rPr lang="en-US" altLang="ko-KR" sz="1600" b="0" i="0" u="none" strike="noStrike" baseline="0" dirty="0">
                <a:solidFill>
                  <a:srgbClr val="6F008A"/>
                </a:solidFill>
                <a:latin typeface="Century Schoolbook" panose="02040604050505020304" pitchFamily="18" charset="0"/>
              </a:rPr>
              <a:t>RAND_MAX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&lt; 0.5) cash++;</a:t>
            </a:r>
          </a:p>
          <a:p>
            <a:pPr marL="0" marR="0" indent="0" algn="just" rtl="0">
              <a:spcBef>
                <a:spcPts val="0"/>
              </a:spcBef>
              <a:buNone/>
            </a:pP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			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else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                    cash--;</a:t>
            </a:r>
          </a:p>
          <a:p>
            <a:pPr marL="0" marR="0" indent="0" algn="just" rtl="0">
              <a:spcBef>
                <a:spcPts val="0"/>
              </a:spcBef>
              <a:buNone/>
            </a:pPr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		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}</a:t>
            </a:r>
          </a:p>
          <a:p>
            <a:pPr marL="0" marR="0" indent="0" algn="just" rtl="0">
              <a:spcBef>
                <a:spcPts val="0"/>
              </a:spcBef>
              <a:buNone/>
            </a:pP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		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if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(cash == goal) wins++;</a:t>
            </a:r>
          </a:p>
          <a:p>
            <a:pPr marL="0" marR="0" indent="0" algn="just" rtl="0">
              <a:spcBef>
                <a:spcPts val="0"/>
              </a:spcBef>
              <a:buNone/>
            </a:pPr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	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}</a:t>
            </a:r>
          </a:p>
          <a:p>
            <a:pPr marL="0" marR="0" indent="0" algn="just" rtl="0">
              <a:spcBef>
                <a:spcPts val="0"/>
              </a:spcBef>
              <a:buNone/>
            </a:pPr>
            <a:endParaRPr lang="ko-KR" altLang="en-US" sz="1600" b="0" i="0" u="none" strike="noStrike" baseline="0" dirty="0">
              <a:solidFill>
                <a:srgbClr val="000000"/>
              </a:solidFill>
              <a:latin typeface="Century Schoolbook" panose="02040604050505020304" pitchFamily="18" charset="0"/>
            </a:endParaRPr>
          </a:p>
          <a:p>
            <a:pPr marL="0" marR="0" indent="0" algn="just" rtl="0">
              <a:spcBef>
                <a:spcPts val="0"/>
              </a:spcBef>
              <a:buNone/>
            </a:pP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	</a:t>
            </a:r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</a:rPr>
              <a:t>printf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(</a:t>
            </a:r>
            <a:r>
              <a:rPr lang="en-US" altLang="ko-KR" sz="1600" b="0" i="0" u="none" strike="noStrike" baseline="0" dirty="0">
                <a:solidFill>
                  <a:srgbClr val="A31515"/>
                </a:solidFill>
                <a:latin typeface="Century Schoolbook" panose="02040604050505020304" pitchFamily="18" charset="0"/>
              </a:rPr>
              <a:t>"</a:t>
            </a:r>
            <a:r>
              <a:rPr lang="ko-KR" altLang="en-US" sz="1600" b="0" i="0" u="none" strike="noStrike" baseline="0" dirty="0">
                <a:solidFill>
                  <a:srgbClr val="A31515"/>
                </a:solidFill>
                <a:latin typeface="Century Schoolbook" panose="02040604050505020304" pitchFamily="18" charset="0"/>
              </a:rPr>
              <a:t>초기 금액 </a:t>
            </a:r>
            <a:r>
              <a:rPr lang="en-US" altLang="ko-KR" sz="1600" b="0" i="0" u="none" strike="noStrike" baseline="0" dirty="0">
                <a:solidFill>
                  <a:srgbClr val="A31515"/>
                </a:solidFill>
                <a:latin typeface="Century Schoolbook" panose="02040604050505020304" pitchFamily="18" charset="0"/>
              </a:rPr>
              <a:t>$%d \n"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, </a:t>
            </a:r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</a:rPr>
              <a:t>initial_money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);</a:t>
            </a:r>
          </a:p>
          <a:p>
            <a:pPr marL="0" marR="0" indent="0" algn="just" rtl="0">
              <a:spcBef>
                <a:spcPts val="0"/>
              </a:spcBef>
              <a:buNone/>
            </a:pP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	</a:t>
            </a:r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</a:rPr>
              <a:t>printf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(</a:t>
            </a:r>
            <a:r>
              <a:rPr lang="en-US" altLang="ko-KR" sz="1600" b="0" i="0" u="none" strike="noStrike" baseline="0" dirty="0">
                <a:solidFill>
                  <a:srgbClr val="A31515"/>
                </a:solidFill>
                <a:latin typeface="Century Schoolbook" panose="02040604050505020304" pitchFamily="18" charset="0"/>
              </a:rPr>
              <a:t>"</a:t>
            </a:r>
            <a:r>
              <a:rPr lang="ko-KR" altLang="en-US" sz="1600" b="0" i="0" u="none" strike="noStrike" baseline="0" dirty="0">
                <a:solidFill>
                  <a:srgbClr val="A31515"/>
                </a:solidFill>
                <a:latin typeface="Century Schoolbook" panose="02040604050505020304" pitchFamily="18" charset="0"/>
              </a:rPr>
              <a:t>목표 금액 </a:t>
            </a:r>
            <a:r>
              <a:rPr lang="en-US" altLang="ko-KR" sz="1600" b="0" i="0" u="none" strike="noStrike" baseline="0" dirty="0">
                <a:solidFill>
                  <a:srgbClr val="A31515"/>
                </a:solidFill>
                <a:latin typeface="Century Schoolbook" panose="02040604050505020304" pitchFamily="18" charset="0"/>
              </a:rPr>
              <a:t>$%d \n"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, goal);</a:t>
            </a:r>
          </a:p>
          <a:p>
            <a:pPr marL="0" marR="0" indent="0" algn="just" rtl="0">
              <a:spcBef>
                <a:spcPts val="0"/>
              </a:spcBef>
              <a:buNone/>
            </a:pPr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	</a:t>
            </a:r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</a:rPr>
              <a:t>printf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(</a:t>
            </a:r>
            <a:r>
              <a:rPr lang="en-US" altLang="ko-KR" sz="1600" b="0" i="0" u="none" strike="noStrike" baseline="0" dirty="0">
                <a:solidFill>
                  <a:srgbClr val="A31515"/>
                </a:solidFill>
                <a:latin typeface="Century Schoolbook" panose="02040604050505020304" pitchFamily="18" charset="0"/>
              </a:rPr>
              <a:t>"100</a:t>
            </a:r>
            <a:r>
              <a:rPr lang="ko-KR" altLang="en-US" sz="1600" b="0" i="0" u="none" strike="noStrike" baseline="0" dirty="0">
                <a:solidFill>
                  <a:srgbClr val="A31515"/>
                </a:solidFill>
                <a:latin typeface="Century Schoolbook" panose="02040604050505020304" pitchFamily="18" charset="0"/>
              </a:rPr>
              <a:t>번 중에서 </a:t>
            </a:r>
            <a:r>
              <a:rPr lang="en-US" altLang="ko-KR" sz="1600" b="0" i="0" u="none" strike="noStrike" baseline="0" dirty="0">
                <a:solidFill>
                  <a:srgbClr val="A31515"/>
                </a:solidFill>
                <a:latin typeface="Century Schoolbook" panose="02040604050505020304" pitchFamily="18" charset="0"/>
              </a:rPr>
              <a:t>%d</a:t>
            </a:r>
            <a:r>
              <a:rPr lang="ko-KR" altLang="en-US" sz="1600" b="0" i="0" u="none" strike="noStrike" baseline="0" dirty="0">
                <a:solidFill>
                  <a:srgbClr val="A31515"/>
                </a:solidFill>
                <a:latin typeface="Century Schoolbook" panose="02040604050505020304" pitchFamily="18" charset="0"/>
              </a:rPr>
              <a:t>번 성공</a:t>
            </a:r>
            <a:r>
              <a:rPr lang="en-US" altLang="ko-KR" sz="1600" b="0" i="0" u="none" strike="noStrike" baseline="0" dirty="0">
                <a:solidFill>
                  <a:srgbClr val="A31515"/>
                </a:solidFill>
                <a:latin typeface="Century Schoolbook" panose="02040604050505020304" pitchFamily="18" charset="0"/>
              </a:rPr>
              <a:t>\n"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, wins);</a:t>
            </a:r>
          </a:p>
          <a:p>
            <a:pPr marL="0" marR="0" indent="0" algn="just" rtl="0">
              <a:spcBef>
                <a:spcPts val="0"/>
              </a:spcBef>
              <a:buNone/>
            </a:pP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	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return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 0;</a:t>
            </a:r>
          </a:p>
          <a:p>
            <a:pPr marL="0" marR="0" indent="0" algn="just" rtl="0">
              <a:spcBef>
                <a:spcPts val="0"/>
              </a:spcBef>
              <a:buNone/>
            </a:pP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}</a:t>
            </a:r>
            <a:endParaRPr lang="en-US" altLang="ko-KR" sz="1600" dirty="0">
              <a:solidFill>
                <a:srgbClr val="000000"/>
              </a:solidFill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96449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Lab </a:t>
            </a:r>
            <a:r>
              <a:rPr lang="en-US" altLang="ko-KR" dirty="0" smtClean="0"/>
              <a:t>8: </a:t>
            </a:r>
            <a:r>
              <a:rPr lang="ko-KR" altLang="en-US" dirty="0" smtClean="0"/>
              <a:t>합 구하기</a:t>
            </a:r>
            <a:endParaRPr lang="ko-KR" altLang="en-US" dirty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836252" y="1685366"/>
            <a:ext cx="7742473" cy="4687046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Symbol" pitchFamily="18" charset="2"/>
              <a:buChar char="·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Symbol" pitchFamily="18" charset="2"/>
              <a:buChar char="·"/>
              <a:defRPr sz="20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sz="16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sz="14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US" altLang="ko-KR" sz="1600" dirty="0" smtClean="0">
                <a:solidFill>
                  <a:srgbClr val="80808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1</a:t>
            </a:r>
            <a:r>
              <a:rPr lang="ko-KR" altLang="en-US" sz="1600" dirty="0" smtClean="0">
                <a:solidFill>
                  <a:srgbClr val="80808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부터 </a:t>
            </a:r>
            <a:r>
              <a:rPr lang="en-US" altLang="ko-KR" sz="1600" dirty="0" smtClean="0">
                <a:solidFill>
                  <a:srgbClr val="80808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1000 </a:t>
            </a:r>
            <a:r>
              <a:rPr lang="ko-KR" altLang="en-US" sz="1600" dirty="0" smtClean="0">
                <a:solidFill>
                  <a:srgbClr val="80808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사이의 숫자 중 모든 </a:t>
            </a:r>
            <a:r>
              <a:rPr lang="en-US" altLang="ko-KR" sz="1600" dirty="0" smtClean="0">
                <a:solidFill>
                  <a:srgbClr val="80808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3</a:t>
            </a:r>
            <a:r>
              <a:rPr lang="ko-KR" altLang="en-US" sz="1600" dirty="0" smtClean="0">
                <a:solidFill>
                  <a:srgbClr val="80808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의 배수와 </a:t>
            </a:r>
            <a:r>
              <a:rPr lang="en-US" altLang="ko-KR" sz="1600" dirty="0" smtClean="0">
                <a:solidFill>
                  <a:srgbClr val="80808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5</a:t>
            </a:r>
            <a:r>
              <a:rPr lang="ko-KR" altLang="en-US" sz="1600" dirty="0" smtClean="0">
                <a:solidFill>
                  <a:srgbClr val="80808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의 배수의 합을 구하는 프로그램을 작성하시오</a:t>
            </a:r>
            <a:r>
              <a:rPr lang="en-US" altLang="ko-KR" sz="1600" dirty="0" smtClean="0">
                <a:solidFill>
                  <a:srgbClr val="80808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(while loop </a:t>
            </a:r>
            <a:r>
              <a:rPr lang="ko-KR" altLang="en-US" sz="1600" dirty="0" smtClean="0">
                <a:solidFill>
                  <a:srgbClr val="80808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사용</a:t>
            </a:r>
            <a:r>
              <a:rPr lang="en-US" altLang="ko-KR" sz="1600" dirty="0" smtClean="0">
                <a:solidFill>
                  <a:srgbClr val="80808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)</a:t>
            </a:r>
            <a:endParaRPr lang="en-US" altLang="ko-KR" sz="1400" dirty="0">
              <a:latin typeface="Trebuchet MS" panose="020B0603020202020204" pitchFamily="34" charset="0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30615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Lab </a:t>
            </a:r>
            <a:r>
              <a:rPr lang="en-US" altLang="ko-KR" dirty="0" smtClean="0"/>
              <a:t>9: </a:t>
            </a:r>
            <a:r>
              <a:rPr lang="ko-KR" altLang="en-US" dirty="0" err="1" smtClean="0"/>
              <a:t>반복문</a:t>
            </a:r>
            <a:endParaRPr lang="ko-KR" altLang="en-US" dirty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836252" y="1685366"/>
            <a:ext cx="7742473" cy="4687046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Symbol" pitchFamily="18" charset="2"/>
              <a:buChar char="·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Symbol" pitchFamily="18" charset="2"/>
              <a:buChar char="·"/>
              <a:defRPr sz="20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sz="16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sz="14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ko-KR" altLang="en-US" sz="1600" dirty="0">
                <a:solidFill>
                  <a:srgbClr val="80808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종이를 한번 접으면 면적이 </a:t>
            </a:r>
            <a:r>
              <a:rPr lang="en-US" altLang="ko-KR" sz="1600" dirty="0">
                <a:solidFill>
                  <a:srgbClr val="80808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1/2</a:t>
            </a:r>
            <a:r>
              <a:rPr lang="ko-KR" altLang="en-US" sz="1600" dirty="0">
                <a:solidFill>
                  <a:srgbClr val="80808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로 줄어든다</a:t>
            </a:r>
            <a:r>
              <a:rPr lang="en-US" altLang="ko-KR" sz="1600" dirty="0">
                <a:solidFill>
                  <a:srgbClr val="80808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. </a:t>
            </a:r>
            <a:r>
              <a:rPr lang="ko-KR" altLang="en-US" sz="1600" dirty="0">
                <a:solidFill>
                  <a:srgbClr val="80808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종이를 몇 번 접어야 원래 면적의 </a:t>
            </a:r>
            <a:r>
              <a:rPr lang="en-US" altLang="ko-KR" sz="1600" dirty="0">
                <a:solidFill>
                  <a:srgbClr val="80808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1/100</a:t>
            </a:r>
            <a:r>
              <a:rPr lang="ko-KR" altLang="en-US" sz="1600" dirty="0">
                <a:solidFill>
                  <a:srgbClr val="80808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로 </a:t>
            </a:r>
            <a:r>
              <a:rPr lang="ko-KR" altLang="en-US" sz="1600" dirty="0" smtClean="0">
                <a:solidFill>
                  <a:srgbClr val="80808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줄어드는 지 구하는 프로그램을 작성하시오</a:t>
            </a:r>
            <a:r>
              <a:rPr lang="en-US" altLang="ko-KR" sz="1600" dirty="0" smtClean="0">
                <a:solidFill>
                  <a:srgbClr val="80808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.</a:t>
            </a:r>
          </a:p>
          <a:p>
            <a:pPr marL="0" indent="0">
              <a:spcBef>
                <a:spcPts val="0"/>
              </a:spcBef>
              <a:buNone/>
            </a:pPr>
            <a:r>
              <a:rPr lang="ko-KR" altLang="en-US" sz="1600" dirty="0" smtClean="0">
                <a:solidFill>
                  <a:srgbClr val="80808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로그 </a:t>
            </a:r>
            <a:r>
              <a:rPr lang="ko-KR" altLang="en-US" sz="1600" dirty="0">
                <a:solidFill>
                  <a:srgbClr val="80808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함수나 지수 함수를 사용하지 말고 반복 구조를 이용하여서 </a:t>
            </a:r>
            <a:r>
              <a:rPr lang="ko-KR" altLang="en-US" sz="1600" dirty="0" err="1" smtClean="0">
                <a:solidFill>
                  <a:srgbClr val="80808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해결하시오</a:t>
            </a:r>
            <a:r>
              <a:rPr lang="en-US" altLang="ko-KR" sz="1600" dirty="0" smtClean="0">
                <a:solidFill>
                  <a:srgbClr val="80808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600" dirty="0" smtClean="0">
                <a:solidFill>
                  <a:srgbClr val="80808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(</a:t>
            </a:r>
            <a:r>
              <a:rPr lang="ko-KR" altLang="en-US" sz="1600" dirty="0" err="1" smtClean="0">
                <a:solidFill>
                  <a:srgbClr val="80808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무한루프</a:t>
            </a:r>
            <a:r>
              <a:rPr lang="en-US" altLang="ko-KR" sz="1600" dirty="0" smtClean="0">
                <a:solidFill>
                  <a:srgbClr val="80808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, break </a:t>
            </a:r>
            <a:r>
              <a:rPr lang="ko-KR" altLang="en-US" sz="1600" dirty="0" smtClean="0">
                <a:solidFill>
                  <a:srgbClr val="80808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사용</a:t>
            </a:r>
            <a:r>
              <a:rPr lang="en-US" altLang="ko-KR" sz="1600" dirty="0" smtClean="0">
                <a:solidFill>
                  <a:srgbClr val="80808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)</a:t>
            </a:r>
            <a:endParaRPr lang="en-US" altLang="ko-KR" sz="1400" dirty="0">
              <a:latin typeface="Trebuchet MS" panose="020B0603020202020204" pitchFamily="34" charset="0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38665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Lab </a:t>
            </a:r>
            <a:r>
              <a:rPr lang="en-US" altLang="ko-KR" dirty="0" smtClean="0"/>
              <a:t>10: </a:t>
            </a:r>
            <a:r>
              <a:rPr lang="ko-KR" altLang="en-US" dirty="0" smtClean="0"/>
              <a:t>주사위 던지기</a:t>
            </a:r>
            <a:endParaRPr lang="ko-KR" altLang="en-US" dirty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836252" y="1685366"/>
            <a:ext cx="7742473" cy="4687046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Symbol" pitchFamily="18" charset="2"/>
              <a:buChar char="·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Symbol" pitchFamily="18" charset="2"/>
              <a:buChar char="·"/>
              <a:defRPr sz="20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sz="16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sz="14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ko-KR" altLang="en-US" sz="1600" dirty="0" smtClean="0">
                <a:solidFill>
                  <a:srgbClr val="80808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주사위 게임을 생각해 보자</a:t>
            </a:r>
            <a:r>
              <a:rPr lang="en-US" altLang="ko-KR" sz="1600" dirty="0" smtClean="0">
                <a:solidFill>
                  <a:srgbClr val="80808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. </a:t>
            </a:r>
            <a:r>
              <a:rPr lang="ko-KR" altLang="en-US" sz="1600" dirty="0">
                <a:solidFill>
                  <a:srgbClr val="80808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주사위 </a:t>
            </a:r>
            <a:r>
              <a:rPr lang="en-US" altLang="ko-KR" sz="1600" dirty="0">
                <a:solidFill>
                  <a:srgbClr val="80808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2</a:t>
            </a:r>
            <a:r>
              <a:rPr lang="ko-KR" altLang="en-US" sz="1600" dirty="0">
                <a:solidFill>
                  <a:srgbClr val="80808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개를 던졌을 때</a:t>
            </a:r>
            <a:r>
              <a:rPr lang="en-US" altLang="ko-KR" sz="1600" dirty="0">
                <a:solidFill>
                  <a:srgbClr val="80808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, </a:t>
            </a:r>
            <a:r>
              <a:rPr lang="ko-KR" altLang="en-US" sz="1600" dirty="0">
                <a:solidFill>
                  <a:srgbClr val="80808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합이 </a:t>
            </a:r>
            <a:r>
              <a:rPr lang="en-US" altLang="ko-KR" sz="1600" dirty="0">
                <a:solidFill>
                  <a:srgbClr val="80808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6</a:t>
            </a:r>
            <a:r>
              <a:rPr lang="ko-KR" altLang="en-US" sz="1600" dirty="0">
                <a:solidFill>
                  <a:srgbClr val="80808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이 되는 경우를 </a:t>
            </a:r>
            <a:r>
              <a:rPr lang="ko-KR" altLang="en-US" sz="1600" dirty="0" smtClean="0">
                <a:solidFill>
                  <a:srgbClr val="80808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 </a:t>
            </a:r>
            <a:r>
              <a:rPr lang="ko-KR" altLang="en-US" sz="1600" dirty="0">
                <a:solidFill>
                  <a:srgbClr val="80808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출력하여 </a:t>
            </a:r>
            <a:r>
              <a:rPr lang="ko-KR" altLang="en-US" sz="1600" dirty="0" smtClean="0">
                <a:solidFill>
                  <a:srgbClr val="80808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보자</a:t>
            </a:r>
            <a:r>
              <a:rPr lang="en-US" altLang="ko-KR" sz="1600" dirty="0" smtClean="0">
                <a:solidFill>
                  <a:srgbClr val="80808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(</a:t>
            </a:r>
            <a:r>
              <a:rPr lang="ko-KR" altLang="en-US" sz="1600" dirty="0" smtClean="0">
                <a:solidFill>
                  <a:srgbClr val="80808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중복 </a:t>
            </a:r>
            <a:r>
              <a:rPr lang="ko-KR" altLang="en-US" sz="1600" dirty="0">
                <a:solidFill>
                  <a:srgbClr val="80808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제</a:t>
            </a:r>
            <a:r>
              <a:rPr lang="ko-KR" altLang="en-US" sz="1600" dirty="0" smtClean="0">
                <a:solidFill>
                  <a:srgbClr val="80808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외</a:t>
            </a:r>
            <a:r>
              <a:rPr lang="en-US" altLang="ko-KR" sz="1600" dirty="0" smtClean="0">
                <a:solidFill>
                  <a:srgbClr val="80808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). </a:t>
            </a:r>
            <a:r>
              <a:rPr lang="ko-KR" altLang="en-US" sz="1600" dirty="0">
                <a:solidFill>
                  <a:srgbClr val="80808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예를 들어서 </a:t>
            </a:r>
            <a:r>
              <a:rPr lang="en-US" altLang="ko-KR" sz="1600" dirty="0">
                <a:solidFill>
                  <a:srgbClr val="80808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(1, 5), (2, 4</a:t>
            </a:r>
            <a:r>
              <a:rPr lang="en-US" altLang="ko-KR" sz="1600" dirty="0" smtClean="0">
                <a:solidFill>
                  <a:srgbClr val="80808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),…</a:t>
            </a:r>
            <a:r>
              <a:rPr lang="ko-KR" altLang="en-US" sz="1600" dirty="0" smtClean="0">
                <a:solidFill>
                  <a:srgbClr val="80808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와 </a:t>
            </a:r>
            <a:r>
              <a:rPr lang="ko-KR" altLang="en-US" sz="1600" dirty="0">
                <a:solidFill>
                  <a:srgbClr val="80808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같이 출력되면 된다</a:t>
            </a:r>
            <a:r>
              <a:rPr lang="en-US" altLang="ko-KR" sz="1600" dirty="0">
                <a:solidFill>
                  <a:srgbClr val="80808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. </a:t>
            </a:r>
            <a:r>
              <a:rPr lang="ko-KR" altLang="en-US" sz="1600" dirty="0">
                <a:solidFill>
                  <a:srgbClr val="80808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또 주사위 </a:t>
            </a:r>
            <a:r>
              <a:rPr lang="en-US" altLang="ko-KR" sz="1600" dirty="0">
                <a:solidFill>
                  <a:srgbClr val="80808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3</a:t>
            </a:r>
            <a:r>
              <a:rPr lang="ko-KR" altLang="en-US" sz="1600" dirty="0">
                <a:solidFill>
                  <a:srgbClr val="80808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개를 사용하여서 합이 </a:t>
            </a:r>
            <a:r>
              <a:rPr lang="en-US" altLang="ko-KR" sz="1600" dirty="0">
                <a:solidFill>
                  <a:srgbClr val="80808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10</a:t>
            </a:r>
            <a:r>
              <a:rPr lang="ko-KR" altLang="en-US" sz="1600" dirty="0">
                <a:solidFill>
                  <a:srgbClr val="80808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이 되는 경우를 </a:t>
            </a:r>
            <a:r>
              <a:rPr lang="ko-KR" altLang="en-US" sz="1600" dirty="0" smtClean="0">
                <a:solidFill>
                  <a:srgbClr val="80808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출력하여 </a:t>
            </a:r>
            <a:r>
              <a:rPr lang="ko-KR" altLang="en-US" sz="1600" dirty="0">
                <a:solidFill>
                  <a:srgbClr val="80808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보자</a:t>
            </a:r>
            <a:r>
              <a:rPr lang="en-US" altLang="ko-KR" sz="1600" dirty="0">
                <a:solidFill>
                  <a:srgbClr val="80808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. </a:t>
            </a:r>
            <a:endParaRPr lang="en-US" altLang="ko-KR" sz="1600" dirty="0" smtClean="0">
              <a:solidFill>
                <a:srgbClr val="808080"/>
              </a:solidFill>
              <a:latin typeface="Trebuchet MS" panose="020B0603020202020204" pitchFamily="34" charset="0"/>
              <a:ea typeface="돋움체" panose="020B0609000101010101" pitchFamily="49" charset="-127"/>
            </a:endParaRPr>
          </a:p>
          <a:p>
            <a:pPr marL="0" indent="0">
              <a:spcBef>
                <a:spcPts val="0"/>
              </a:spcBef>
              <a:buNone/>
            </a:pPr>
            <a:endParaRPr lang="en-US" altLang="ko-KR" sz="1600" dirty="0">
              <a:solidFill>
                <a:srgbClr val="808080"/>
              </a:solidFill>
              <a:latin typeface="Trebuchet MS" panose="020B0603020202020204" pitchFamily="34" charset="0"/>
              <a:ea typeface="돋움체" panose="020B0609000101010101" pitchFamily="49" charset="-127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600" dirty="0" smtClean="0">
                <a:solidFill>
                  <a:srgbClr val="80808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*</a:t>
            </a:r>
            <a:r>
              <a:rPr lang="ko-KR" altLang="en-US" sz="1600" dirty="0" smtClean="0">
                <a:solidFill>
                  <a:srgbClr val="80808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중복되는 경우는 출력하면 안됨</a:t>
            </a:r>
            <a:r>
              <a:rPr lang="en-US" altLang="ko-KR" sz="1600" dirty="0" smtClean="0">
                <a:solidFill>
                  <a:srgbClr val="80808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: </a:t>
            </a:r>
            <a:r>
              <a:rPr lang="ko-KR" altLang="en-US" sz="1600" dirty="0" smtClean="0">
                <a:solidFill>
                  <a:srgbClr val="80808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예 </a:t>
            </a:r>
            <a:r>
              <a:rPr lang="en-US" altLang="ko-KR" sz="1600" dirty="0" smtClean="0">
                <a:solidFill>
                  <a:srgbClr val="80808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(2,4), (4,2)</a:t>
            </a:r>
            <a:endParaRPr lang="en-US" altLang="ko-KR" sz="1600" dirty="0">
              <a:solidFill>
                <a:srgbClr val="808080"/>
              </a:solidFill>
              <a:latin typeface="Trebuchet MS" panose="020B0603020202020204" pitchFamily="34" charset="0"/>
              <a:ea typeface="돋움체" panose="020B060900010101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30109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가을">
  <a:themeElements>
    <a:clrScheme name="가을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가을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가을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2300</TotalTime>
  <Words>393</Words>
  <Application>Microsoft Office PowerPoint</Application>
  <PresentationFormat>화면 슬라이드 쇼(4:3)</PresentationFormat>
  <Paragraphs>45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8" baseType="lpstr">
      <vt:lpstr>HY얕은샘물M</vt:lpstr>
      <vt:lpstr>굴림</vt:lpstr>
      <vt:lpstr>돋움체</vt:lpstr>
      <vt:lpstr>Arial</vt:lpstr>
      <vt:lpstr>Century Schoolbook</vt:lpstr>
      <vt:lpstr>Symbol</vt:lpstr>
      <vt:lpstr>Trebuchet MS</vt:lpstr>
      <vt:lpstr>Tw Cen MT</vt:lpstr>
      <vt:lpstr>Wingdings</vt:lpstr>
      <vt:lpstr>Wingdings 2</vt:lpstr>
      <vt:lpstr>가을</vt:lpstr>
      <vt:lpstr>제 7장 반복문 </vt:lpstr>
      <vt:lpstr>Lab7: 도박사의 확률</vt:lpstr>
      <vt:lpstr>Lab:도박사의 확률</vt:lpstr>
      <vt:lpstr>PowerPoint 프레젠테이션</vt:lpstr>
      <vt:lpstr>Lab 8: 합 구하기</vt:lpstr>
      <vt:lpstr>Lab 9: 반복문</vt:lpstr>
      <vt:lpstr>Lab 10: 주사위 던지기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쉽게 풀어쓴 C 프로그래밍</dc:title>
  <dc:creator>천인국</dc:creator>
  <cp:lastModifiedBy>jdonam</cp:lastModifiedBy>
  <cp:revision>445</cp:revision>
  <dcterms:created xsi:type="dcterms:W3CDTF">2007-06-29T06:43:39Z</dcterms:created>
  <dcterms:modified xsi:type="dcterms:W3CDTF">2026-03-25T08:30:59Z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TC010187211033</vt:lpwstr>
  </property>
</Properties>
</file>